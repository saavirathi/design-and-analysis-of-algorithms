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Exo"/>
      <p:regular r:id="rId201314"/>
    </p:embeddedFont>
    <p:embeddedFont>
      <p:font typeface="Exo Medium"/>
      <p:regular r:id="rId201315"/>
    </p:embeddedFont>
    <p:embeddedFont>
      <p:font typeface="Exo SemiBold"/>
      <p:regular r:id="rId201316"/>
    </p:embeddedFont>
    <p:embeddedFont>
      <p:font typeface="Exo Bold"/>
      <p:regular r:id="rId201317"/>
    </p:embeddedFont>
    <p:embeddedFont>
      <p:font typeface="Fira Mono Medium"/>
      <p:regular r:id="rId201318"/>
    </p:embeddedFont>
    <p:embeddedFont>
      <p:font typeface="Fira Mono Bold"/>
      <p:regular r:id="rId201319"/>
    </p:embeddedFont>
    <p:embeddedFont>
      <p:font typeface="Fira Mono"/>
      <p:regular r:id="rId201320"/>
    </p:embeddedFont>
    <p:embeddedFont>
      <p:font typeface="Michroma"/>
      <p:regular r:id="rId201321"/>
    </p:embeddedFont>
    <p:embeddedFont>
      <p:font typeface="MuseoModerno Bold"/>
      <p:regular r:id="rId2013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Dijkstra’s Algorithm as a method for finding minimum-cost paths in a weighted graph. This presentation moves from the model and greedy idea to a worked example, implementation choices, and the algorithm’s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practical interpretation: a graph is a network of possible moves, and edge weights describe cost. Dijkstra’s Algorithm systematically turns those possibilities into route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graph as the mental model. Vertices represent locations or states, edges represent available connections, and weights represent cost. The source anchors every distance. The greedy strategy decides which unsettled vertex is safe to finalize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difference between tentative and finalized distances. A tentative value can improve. Once the closest unvisited vertex is selected under the non-negative-weight assumption, its distance is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updates from left to right. A first gives C a tentative distance of 1 and B a distance of 4. Choosing C improves B to 3 and gives D a tentative value of 6. Choosing B improves D to 4. The selected route is A to C to B to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test is the relaxation condition. If the route through u is cheaper than the current tentative distance, update the distance and remember u as the predecessor. Those predecessor links reconstruct the final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 runtime to the data structure. With an adjacency list and min-priority queue, the typical runtime is O((V + E) log V). With an array or adjacency matrix, it is O(V squared). The right choice depends on graph density and the available data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examples to show the breadth of the idea. The domain changes, but the structure remains: states, possible transitions, a cost for each transition, and a route that minimizes total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assumption explicit rather than treating it as a footnote. With non-negative edge weights, finalized distances are safe. Negative edges can later reveal a cheaper route, breaking the greedy guarantee. Bellman–Ford is designed for that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returning to the loop: initialize, choose, relax, finalize, repeat. The finalized predecessor links form a shortest-path tree rooted at the source. In the worked example, the selected route is A → C → B → D with total cost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3" Type="http://schemas.openxmlformats.org/officeDocument/2006/relationships/image" Target="../media/image-1002-3.png"/><Relationship Id="rI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3.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5050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p:cNvPr>
          <p:cNvPicPr>
            <a:picLocks noChangeAspect="1"/>
          </p:cNvPicPr>
          <p:nvPr/>
        </p:nvPicPr>
        <p:blipFill>
          <a:blip r:embed="rId2"/>
          <a:stretch>
            <a:fillRect/>
          </a:stretch>
        </p:blipFill>
        <p:spPr>
          <a:xfrm>
            <a:off x="0" y="0"/>
            <a:ext cx="12191695" cy="6858000"/>
          </a:xfrm>
          <a:prstGeom prst="rect">
            <a:avLst/>
          </a:prstGeom>
        </p:spPr>
      </p:pic>
      <p:pic>
        <p:nvPicPr>
          <p:cNvPr id="4" name="Image 2" descr="preencoded.png">
            <a:hlinkClick r:id="rId4" tooltip=""/>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50505"/>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1.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85783" y="914400"/>
            <a:ext cx="7492813" cy="5207000"/>
          </a:xfrm>
          <a:prstGeom prst="roundRect">
            <a:avLst>
              <a:gd name="adj" fmla="val 549"/>
            </a:avLst>
          </a:prstGeom>
          <a:solidFill>
            <a:srgbClr val="050505">
              <a:alpha val="72000"/>
            </a:srgbClr>
          </a:solidFill>
          <a:ln/>
        </p:spPr>
      </p:sp>
      <p:sp>
        <p:nvSpPr>
          <p:cNvPr id="3" name="Text 1"/>
          <p:cNvSpPr/>
          <p:nvPr/>
        </p:nvSpPr>
        <p:spPr>
          <a:xfrm>
            <a:off x="1193770" y="1348422"/>
            <a:ext cx="7086423"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FFFFFF"/>
                </a:solidFill>
                <a:latin typeface="Fira Mono Medium" pitchFamily="34" charset="0"/>
                <a:ea typeface="Fira Mono Medium" pitchFamily="34" charset="-122"/>
                <a:cs typeface="Fira Mono Medium" pitchFamily="34" charset="-120"/>
              </a:rPr>
              <a:t>DESIGN AND ANALYSIS OF ALGORITHMS · DAA</a:t>
            </a:r>
            <a:endParaRPr lang="en-US" sz="1100" dirty="0"/>
          </a:p>
        </p:txBody>
      </p:sp>
      <p:sp>
        <p:nvSpPr>
          <p:cNvPr id="4" name="Text 2"/>
          <p:cNvSpPr/>
          <p:nvPr/>
        </p:nvSpPr>
        <p:spPr>
          <a:xfrm>
            <a:off x="1193770" y="1727922"/>
            <a:ext cx="6476838" cy="2005409"/>
          </a:xfrm>
          <a:prstGeom prst="rect">
            <a:avLst/>
          </a:prstGeom>
          <a:noFill/>
          <a:ln/>
        </p:spPr>
        <p:txBody>
          <a:bodyPr wrap="square" lIns="0" tIns="0" rIns="0" bIns="0" rtlCol="0" anchor="t">
            <a:normAutofit/>
          </a:bodyPr>
          <a:lstStyle/>
          <a:p>
            <a:pPr algn="l" indent="0" marL="0">
              <a:lnSpc>
                <a:spcPct val="78000"/>
              </a:lnSpc>
              <a:buNone/>
            </a:pPr>
            <a:r>
              <a:rPr lang="en-US" sz="8400" b="1" spc="-336" kern="100" dirty="0">
                <a:solidFill>
                  <a:srgbClr val="FFFFFF"/>
                </a:solidFill>
                <a:latin typeface="MuseoModerno Bold" pitchFamily="34" charset="0"/>
                <a:ea typeface="MuseoModerno Bold" pitchFamily="34" charset="-122"/>
                <a:cs typeface="MuseoModerno Bold" pitchFamily="34" charset="-120"/>
              </a:rPr>
              <a:t>Dijkstra’s</a:t>
            </a:r>
            <a:endParaRPr lang="en-US" sz="8400" dirty="0"/>
          </a:p>
          <a:p>
            <a:pPr algn="l" indent="0" marL="0">
              <a:lnSpc>
                <a:spcPct val="78000"/>
              </a:lnSpc>
              <a:buNone/>
            </a:pPr>
            <a:r>
              <a:rPr lang="en-US" sz="8400" b="1" spc="-336" kern="100" dirty="0">
                <a:solidFill>
                  <a:srgbClr val="FFFFFF"/>
                </a:solidFill>
                <a:latin typeface="MuseoModerno Bold" pitchFamily="34" charset="0"/>
                <a:ea typeface="MuseoModerno Bold" pitchFamily="34" charset="-122"/>
                <a:cs typeface="MuseoModerno Bold" pitchFamily="34" charset="-120"/>
              </a:rPr>
              <a:t>Algorithm</a:t>
            </a:r>
            <a:endParaRPr lang="en-US" sz="8400" dirty="0"/>
          </a:p>
        </p:txBody>
      </p:sp>
      <p:sp>
        <p:nvSpPr>
          <p:cNvPr id="5" name="Shape 3"/>
          <p:cNvSpPr/>
          <p:nvPr/>
        </p:nvSpPr>
        <p:spPr>
          <a:xfrm>
            <a:off x="1193770" y="3893245"/>
            <a:ext cx="1619209" cy="31651"/>
          </a:xfrm>
          <a:prstGeom prst="roundRect">
            <a:avLst>
              <a:gd name="adj" fmla="val 49998"/>
            </a:avLst>
          </a:prstGeom>
          <a:solidFill>
            <a:srgbClr val="9BE1FF"/>
          </a:solidFill>
          <a:ln/>
        </p:spPr>
      </p:sp>
      <p:sp>
        <p:nvSpPr>
          <p:cNvPr id="6" name="Text 4"/>
          <p:cNvSpPr/>
          <p:nvPr/>
        </p:nvSpPr>
        <p:spPr>
          <a:xfrm>
            <a:off x="1193770" y="4308916"/>
            <a:ext cx="6476838" cy="318492"/>
          </a:xfrm>
          <a:prstGeom prst="rect">
            <a:avLst/>
          </a:prstGeom>
          <a:noFill/>
          <a:ln/>
        </p:spPr>
        <p:txBody>
          <a:bodyPr wrap="none" lIns="0" tIns="0" rIns="0" bIns="0" rtlCol="0" anchor="t"/>
          <a:lstStyle/>
          <a:p>
            <a:pPr algn="l" indent="0" marL="0">
              <a:lnSpc>
                <a:spcPct val="110000"/>
              </a:lnSpc>
              <a:buNone/>
            </a:pPr>
            <a:r>
              <a:rPr lang="en-US" sz="1900" dirty="0">
                <a:solidFill>
                  <a:srgbClr val="FFFFFF"/>
                </a:solidFill>
                <a:latin typeface="Exo" pitchFamily="34" charset="0"/>
                <a:ea typeface="Exo" pitchFamily="34" charset="-122"/>
                <a:cs typeface="Exo" pitchFamily="34" charset="-120"/>
              </a:rPr>
              <a:t>Finding the Shortest Path in a Weighted Graph</a:t>
            </a:r>
            <a:endParaRPr lang="en-US" sz="1900" dirty="0"/>
          </a:p>
        </p:txBody>
      </p:sp>
      <p:sp>
        <p:nvSpPr>
          <p:cNvPr id="7" name="Text 5"/>
          <p:cNvSpPr/>
          <p:nvPr/>
        </p:nvSpPr>
        <p:spPr>
          <a:xfrm>
            <a:off x="1193770" y="4803874"/>
            <a:ext cx="7086423" cy="270470"/>
          </a:xfrm>
          <a:prstGeom prst="rect">
            <a:avLst/>
          </a:prstGeom>
          <a:noFill/>
          <a:ln/>
        </p:spPr>
        <p:txBody>
          <a:bodyPr wrap="none" lIns="0" tIns="0" rIns="0" bIns="0" rtlCol="0" anchor="t"/>
          <a:lstStyle/>
          <a:p>
            <a:pPr algn="l" indent="0" marL="0">
              <a:lnSpc>
                <a:spcPct val="118000"/>
              </a:lnSpc>
              <a:buNone/>
            </a:pPr>
            <a:r>
              <a:rPr lang="en-US" sz="1500" dirty="0">
                <a:solidFill>
                  <a:srgbClr val="FFFFFF"/>
                </a:solidFill>
                <a:latin typeface="Exo" pitchFamily="34" charset="0"/>
                <a:ea typeface="Exo" pitchFamily="34" charset="-122"/>
                <a:cs typeface="Exo" pitchFamily="34" charset="-120"/>
              </a:rPr>
              <a:t>Saavi Rathi · PRN: 25070521275 · Section: E2</a:t>
            </a:r>
            <a:endParaRPr lang="en-US" sz="1500" dirty="0"/>
          </a:p>
        </p:txBody>
      </p:sp>
      <p:sp>
        <p:nvSpPr>
          <p:cNvPr id="8" name="Text 6"/>
          <p:cNvSpPr/>
          <p:nvPr/>
        </p:nvSpPr>
        <p:spPr>
          <a:xfrm>
            <a:off x="1193770" y="5253669"/>
            <a:ext cx="7086423" cy="184348"/>
          </a:xfrm>
          <a:prstGeom prst="rect">
            <a:avLst/>
          </a:prstGeom>
          <a:noFill/>
          <a:ln/>
        </p:spPr>
        <p:txBody>
          <a:bodyPr wrap="none" lIns="0" tIns="0" rIns="0" bIns="0" rtlCol="0" anchor="t"/>
          <a:lstStyle/>
          <a:p>
            <a:pPr algn="l" indent="0" marL="0">
              <a:lnSpc>
                <a:spcPct val="110000"/>
              </a:lnSpc>
              <a:buNone/>
            </a:pPr>
            <a:r>
              <a:rPr lang="en-US" sz="1100" spc="11" kern="100" dirty="0">
                <a:solidFill>
                  <a:srgbClr val="FFFFFF"/>
                </a:solidFill>
                <a:latin typeface="Exo" pitchFamily="34" charset="0"/>
                <a:ea typeface="Exo" pitchFamily="34" charset="-122"/>
                <a:cs typeface="Exo" pitchFamily="34" charset="-120"/>
              </a:rPr>
              <a:t>Generated using Gamma AI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3725664"/>
          </a:xfrm>
          <a:prstGeom prst="rect">
            <a:avLst/>
          </a:prstGeom>
          <a:solidFill>
            <a:srgbClr val="0E1F40"/>
          </a:solidFill>
          <a:ln/>
        </p:spPr>
      </p:sp>
      <p:sp>
        <p:nvSpPr>
          <p:cNvPr id="3" name="Text 1"/>
          <p:cNvSpPr/>
          <p:nvPr/>
        </p:nvSpPr>
        <p:spPr>
          <a:xfrm>
            <a:off x="609585" y="408622"/>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D5D5D5"/>
                </a:solidFill>
                <a:latin typeface="Fira Mono Medium" pitchFamily="34" charset="0"/>
                <a:ea typeface="Fira Mono Medium" pitchFamily="34" charset="-122"/>
                <a:cs typeface="Fira Mono Medium" pitchFamily="34" charset="-120"/>
              </a:rPr>
              <a:t>THE CORE IDEA</a:t>
            </a:r>
            <a:endParaRPr lang="en-US" sz="1100" dirty="0"/>
          </a:p>
        </p:txBody>
      </p:sp>
      <p:sp>
        <p:nvSpPr>
          <p:cNvPr id="4" name="Text 2"/>
          <p:cNvSpPr/>
          <p:nvPr/>
        </p:nvSpPr>
        <p:spPr>
          <a:xfrm>
            <a:off x="609585" y="708366"/>
            <a:ext cx="10972526" cy="1195784"/>
          </a:xfrm>
          <a:prstGeom prst="rect">
            <a:avLst/>
          </a:prstGeom>
          <a:noFill/>
          <a:ln/>
        </p:spPr>
        <p:txBody>
          <a:bodyPr wrap="square" lIns="0" tIns="0" rIns="0" bIns="0" rtlCol="0" anchor="t">
            <a:normAutofit/>
          </a:bodyPr>
          <a:lstStyle/>
          <a:p>
            <a:pPr algn="l" indent="0" marL="0">
              <a:lnSpc>
                <a:spcPct val="89000"/>
              </a:lnSpc>
              <a:buNone/>
            </a:pPr>
            <a:r>
              <a:rPr lang="en-US" sz="4400" spc="-53" kern="100" dirty="0">
                <a:solidFill>
                  <a:srgbClr val="D5D5D5"/>
                </a:solidFill>
                <a:latin typeface="Exo SemiBold" pitchFamily="34" charset="0"/>
                <a:ea typeface="Exo SemiBold" pitchFamily="34" charset="-122"/>
                <a:cs typeface="Exo SemiBold" pitchFamily="34" charset="-120"/>
              </a:rPr>
              <a:t>Shortest paths turn networks into decisions</a:t>
            </a:r>
            <a:endParaRPr lang="en-US" sz="4400" dirty="0"/>
          </a:p>
        </p:txBody>
      </p:sp>
      <p:sp>
        <p:nvSpPr>
          <p:cNvPr id="5" name="Shape 3"/>
          <p:cNvSpPr/>
          <p:nvPr/>
        </p:nvSpPr>
        <p:spPr>
          <a:xfrm>
            <a:off x="609585" y="2106017"/>
            <a:ext cx="2743131" cy="31651"/>
          </a:xfrm>
          <a:prstGeom prst="roundRect">
            <a:avLst>
              <a:gd name="adj" fmla="val 49998"/>
            </a:avLst>
          </a:prstGeom>
          <a:solidFill>
            <a:srgbClr val="9BE1FF"/>
          </a:solidFill>
          <a:ln/>
        </p:spPr>
      </p:sp>
      <p:sp>
        <p:nvSpPr>
          <p:cNvPr id="6" name="Text 4"/>
          <p:cNvSpPr/>
          <p:nvPr/>
        </p:nvSpPr>
        <p:spPr>
          <a:xfrm>
            <a:off x="609585" y="2361605"/>
            <a:ext cx="10972526" cy="649089"/>
          </a:xfrm>
          <a:prstGeom prst="rect">
            <a:avLst/>
          </a:prstGeom>
          <a:noFill/>
          <a:ln/>
        </p:spPr>
        <p:txBody>
          <a:bodyPr wrap="square" lIns="0" tIns="0" rIns="0" bIns="0" rtlCol="0" anchor="t">
            <a:normAutofit/>
          </a:bodyPr>
          <a:lstStyle/>
          <a:p>
            <a:pPr algn="l" indent="0" marL="0">
              <a:lnSpc>
                <a:spcPct val="118000"/>
              </a:lnSpc>
              <a:buNone/>
            </a:pPr>
            <a:r>
              <a:rPr lang="en-US" sz="1800" dirty="0">
                <a:solidFill>
                  <a:srgbClr val="D5D5D5"/>
                </a:solidFill>
                <a:latin typeface="Exo" pitchFamily="34" charset="0"/>
                <a:ea typeface="Exo" pitchFamily="34" charset="-122"/>
                <a:cs typeface="Exo" pitchFamily="34" charset="-120"/>
              </a:rPr>
              <a:t>A weighted graph gives many possible routes. Dijkstra’s Algorithm turns that network into a sequence of safe choices.</a:t>
            </a:r>
            <a:endParaRPr lang="en-US" sz="1800" dirty="0"/>
          </a:p>
        </p:txBody>
      </p:sp>
      <p:sp>
        <p:nvSpPr>
          <p:cNvPr id="7" name="Text 5"/>
          <p:cNvSpPr/>
          <p:nvPr/>
        </p:nvSpPr>
        <p:spPr>
          <a:xfrm>
            <a:off x="609585" y="3190716"/>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D5D5D5"/>
                </a:solidFill>
                <a:latin typeface="Fira Mono Medium" pitchFamily="34" charset="0"/>
                <a:ea typeface="Fira Mono Medium" pitchFamily="34" charset="-122"/>
                <a:cs typeface="Fira Mono Medium" pitchFamily="34" charset="-120"/>
              </a:rPr>
              <a:t>SOURCE · E. W. DIJKSTRA · 1956 / 1959</a:t>
            </a:r>
            <a:endParaRPr lang="en-US" sz="1100" dirty="0"/>
          </a:p>
        </p:txBody>
      </p:sp>
      <p:pic>
        <p:nvPicPr>
          <p:cNvPr id="8" name="Image 0" descr="preencoded.png">    </p:cNvPr>
          <p:cNvPicPr>
            <a:picLocks noChangeAspect="1"/>
          </p:cNvPicPr>
          <p:nvPr/>
        </p:nvPicPr>
        <p:blipFill>
          <a:blip r:embed="rId1"/>
          <a:stretch>
            <a:fillRect/>
          </a:stretch>
        </p:blipFill>
        <p:spPr>
          <a:xfrm>
            <a:off x="304792" y="4081264"/>
            <a:ext cx="380990" cy="381000"/>
          </a:xfrm>
          <a:prstGeom prst="rect">
            <a:avLst/>
          </a:prstGeom>
        </p:spPr>
      </p:pic>
      <p:sp>
        <p:nvSpPr>
          <p:cNvPr id="9" name="Text 6"/>
          <p:cNvSpPr/>
          <p:nvPr/>
        </p:nvSpPr>
        <p:spPr>
          <a:xfrm>
            <a:off x="304792" y="4661972"/>
            <a:ext cx="3454314" cy="198041"/>
          </a:xfrm>
          <a:prstGeom prst="rect">
            <a:avLst/>
          </a:prstGeom>
          <a:noFill/>
          <a:ln/>
        </p:spPr>
        <p:txBody>
          <a:bodyPr wrap="none" lIns="0" tIns="0" rIns="0" bIns="0" rtlCol="0" anchor="t"/>
          <a:lstStyle/>
          <a:p>
            <a:pPr algn="l" indent="0" marL="0">
              <a:lnSpc>
                <a:spcPct val="108000"/>
              </a:lnSpc>
              <a:buNone/>
            </a:pPr>
            <a:r>
              <a:rPr lang="en-US" sz="1200" spc="192" kern="100" dirty="0">
                <a:solidFill>
                  <a:srgbClr val="D5D5D5"/>
                </a:solidFill>
                <a:latin typeface="Michroma" pitchFamily="34" charset="0"/>
                <a:ea typeface="Michroma" pitchFamily="34" charset="-122"/>
                <a:cs typeface="Michroma" pitchFamily="34" charset="-120"/>
              </a:rPr>
              <a:t>MINIMUM COST</a:t>
            </a:r>
            <a:endParaRPr lang="en-US" sz="1200" dirty="0"/>
          </a:p>
        </p:txBody>
      </p:sp>
      <p:sp>
        <p:nvSpPr>
          <p:cNvPr id="10" name="Text 7"/>
          <p:cNvSpPr/>
          <p:nvPr/>
        </p:nvSpPr>
        <p:spPr>
          <a:xfrm>
            <a:off x="304792" y="4980980"/>
            <a:ext cx="3454314"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Finds minimum-cost paths from one source to all reachable vertices.</a:t>
            </a:r>
            <a:endParaRPr lang="en-US" sz="1500" dirty="0"/>
          </a:p>
        </p:txBody>
      </p:sp>
      <p:pic>
        <p:nvPicPr>
          <p:cNvPr id="11" name="Image 1" descr="preencoded.png">    </p:cNvPr>
          <p:cNvPicPr>
            <a:picLocks noChangeAspect="1"/>
          </p:cNvPicPr>
          <p:nvPr/>
        </p:nvPicPr>
        <p:blipFill>
          <a:blip r:embed="rId2"/>
          <a:stretch>
            <a:fillRect/>
          </a:stretch>
        </p:blipFill>
        <p:spPr>
          <a:xfrm>
            <a:off x="4368691" y="4081264"/>
            <a:ext cx="380990" cy="381000"/>
          </a:xfrm>
          <a:prstGeom prst="rect">
            <a:avLst/>
          </a:prstGeom>
        </p:spPr>
      </p:pic>
      <p:sp>
        <p:nvSpPr>
          <p:cNvPr id="12" name="Text 8"/>
          <p:cNvSpPr/>
          <p:nvPr/>
        </p:nvSpPr>
        <p:spPr>
          <a:xfrm>
            <a:off x="4368691" y="4661972"/>
            <a:ext cx="3454314" cy="198041"/>
          </a:xfrm>
          <a:prstGeom prst="rect">
            <a:avLst/>
          </a:prstGeom>
          <a:noFill/>
          <a:ln/>
        </p:spPr>
        <p:txBody>
          <a:bodyPr wrap="none" lIns="0" tIns="0" rIns="0" bIns="0" rtlCol="0" anchor="t"/>
          <a:lstStyle/>
          <a:p>
            <a:pPr algn="l" indent="0" marL="0">
              <a:lnSpc>
                <a:spcPct val="108000"/>
              </a:lnSpc>
              <a:buNone/>
            </a:pPr>
            <a:r>
              <a:rPr lang="en-US" sz="1200" spc="192" kern="100" dirty="0">
                <a:solidFill>
                  <a:srgbClr val="D5D5D5"/>
                </a:solidFill>
                <a:latin typeface="Michroma" pitchFamily="34" charset="0"/>
                <a:ea typeface="Michroma" pitchFamily="34" charset="-122"/>
                <a:cs typeface="Michroma" pitchFamily="34" charset="-120"/>
              </a:rPr>
              <a:t>A FOUNDATIONAL IDEA</a:t>
            </a:r>
            <a:endParaRPr lang="en-US" sz="1200" dirty="0"/>
          </a:p>
        </p:txBody>
      </p:sp>
      <p:sp>
        <p:nvSpPr>
          <p:cNvPr id="13" name="Text 9"/>
          <p:cNvSpPr/>
          <p:nvPr/>
        </p:nvSpPr>
        <p:spPr>
          <a:xfrm>
            <a:off x="4368691" y="4980980"/>
            <a:ext cx="3454314"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Developed by Edsger W. Dijkstra in 1956 and published in 1959.</a:t>
            </a:r>
            <a:endParaRPr lang="en-US" sz="1500" dirty="0"/>
          </a:p>
        </p:txBody>
      </p:sp>
      <p:pic>
        <p:nvPicPr>
          <p:cNvPr id="14" name="Image 2" descr="preencoded.png">    </p:cNvPr>
          <p:cNvPicPr>
            <a:picLocks noChangeAspect="1"/>
          </p:cNvPicPr>
          <p:nvPr/>
        </p:nvPicPr>
        <p:blipFill>
          <a:blip r:embed="rId3"/>
          <a:stretch>
            <a:fillRect/>
          </a:stretch>
        </p:blipFill>
        <p:spPr>
          <a:xfrm>
            <a:off x="8432589" y="4081264"/>
            <a:ext cx="380990" cy="381000"/>
          </a:xfrm>
          <a:prstGeom prst="rect">
            <a:avLst/>
          </a:prstGeom>
        </p:spPr>
      </p:pic>
      <p:sp>
        <p:nvSpPr>
          <p:cNvPr id="15" name="Text 10"/>
          <p:cNvSpPr/>
          <p:nvPr/>
        </p:nvSpPr>
        <p:spPr>
          <a:xfrm>
            <a:off x="8432589" y="4661972"/>
            <a:ext cx="3454314" cy="198041"/>
          </a:xfrm>
          <a:prstGeom prst="rect">
            <a:avLst/>
          </a:prstGeom>
          <a:noFill/>
          <a:ln/>
        </p:spPr>
        <p:txBody>
          <a:bodyPr wrap="none" lIns="0" tIns="0" rIns="0" bIns="0" rtlCol="0" anchor="t"/>
          <a:lstStyle/>
          <a:p>
            <a:pPr algn="l" indent="0" marL="0">
              <a:lnSpc>
                <a:spcPct val="108000"/>
              </a:lnSpc>
              <a:buNone/>
            </a:pPr>
            <a:r>
              <a:rPr lang="en-US" sz="1200" spc="192" kern="100" dirty="0">
                <a:solidFill>
                  <a:srgbClr val="D5D5D5"/>
                </a:solidFill>
                <a:latin typeface="Michroma" pitchFamily="34" charset="0"/>
                <a:ea typeface="Michroma" pitchFamily="34" charset="-122"/>
                <a:cs typeface="Michroma" pitchFamily="34" charset="-120"/>
              </a:rPr>
              <a:t>WHY IT MATTERS</a:t>
            </a:r>
            <a:endParaRPr lang="en-US" sz="1200" dirty="0"/>
          </a:p>
        </p:txBody>
      </p:sp>
      <p:sp>
        <p:nvSpPr>
          <p:cNvPr id="16" name="Text 11"/>
          <p:cNvSpPr/>
          <p:nvPr/>
        </p:nvSpPr>
        <p:spPr>
          <a:xfrm>
            <a:off x="8432589" y="4980980"/>
            <a:ext cx="3454314"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Roads, packets, robots, and game agents all need efficient route choices.</a:t>
            </a:r>
            <a:endParaRPr lang="en-US" sz="1500" dirty="0"/>
          </a:p>
        </p:txBody>
      </p:sp>
      <p:sp>
        <p:nvSpPr>
          <p:cNvPr id="17" name="Text 12"/>
          <p:cNvSpPr/>
          <p:nvPr/>
        </p:nvSpPr>
        <p:spPr>
          <a:xfrm>
            <a:off x="11819634" y="6458545"/>
            <a:ext cx="372061"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9D9D9D"/>
                </a:solidFill>
                <a:latin typeface="Fira Mono" pitchFamily="34" charset="0"/>
                <a:ea typeface="Fira Mono" pitchFamily="34" charset="-122"/>
                <a:cs typeface="Fira Mono"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11822"/>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MODEL · SIX PARTS</a:t>
            </a:r>
            <a:endParaRPr lang="en-US" sz="1100" dirty="0"/>
          </a:p>
        </p:txBody>
      </p:sp>
      <p:sp>
        <p:nvSpPr>
          <p:cNvPr id="3" name="Text 1"/>
          <p:cNvSpPr/>
          <p:nvPr/>
        </p:nvSpPr>
        <p:spPr>
          <a:xfrm>
            <a:off x="609585" y="904042"/>
            <a:ext cx="10972526" cy="475555"/>
          </a:xfrm>
          <a:prstGeom prst="rect">
            <a:avLst/>
          </a:prstGeom>
          <a:noFill/>
          <a:ln/>
        </p:spPr>
        <p:txBody>
          <a:bodyPr wrap="none" lIns="0" tIns="0" rIns="0" bIns="0" rtlCol="0" anchor="t"/>
          <a:lstStyle/>
          <a:p>
            <a:pPr algn="l" indent="0" marL="0">
              <a:lnSpc>
                <a:spcPct val="89000"/>
              </a:lnSpc>
              <a:buNone/>
            </a:pPr>
            <a:r>
              <a:rPr lang="en-US" sz="3500" spc="-42" kern="100" dirty="0">
                <a:solidFill>
                  <a:srgbClr val="ECECEC"/>
                </a:solidFill>
                <a:latin typeface="Exo SemiBold" pitchFamily="34" charset="0"/>
                <a:ea typeface="Exo SemiBold" pitchFamily="34" charset="-122"/>
                <a:cs typeface="Exo SemiBold" pitchFamily="34" charset="-120"/>
              </a:rPr>
              <a:t>Every shortest-path problem has six moving parts</a:t>
            </a:r>
            <a:endParaRPr lang="en-US" sz="3500" dirty="0"/>
          </a:p>
        </p:txBody>
      </p:sp>
      <p:sp>
        <p:nvSpPr>
          <p:cNvPr id="4" name="Text 2"/>
          <p:cNvSpPr/>
          <p:nvPr/>
        </p:nvSpPr>
        <p:spPr>
          <a:xfrm>
            <a:off x="5272749" y="1544284"/>
            <a:ext cx="3002284" cy="318492"/>
          </a:xfrm>
          <a:prstGeom prst="rect">
            <a:avLst/>
          </a:prstGeom>
          <a:noFill/>
          <a:ln/>
        </p:spPr>
        <p:txBody>
          <a:bodyPr wrap="none" lIns="0" tIns="0" rIns="0" bIns="0" rtlCol="0" anchor="t"/>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Vertex</a:t>
            </a:r>
            <a:endParaRPr lang="en-US" sz="1900" dirty="0"/>
          </a:p>
        </p:txBody>
      </p:sp>
      <p:sp>
        <p:nvSpPr>
          <p:cNvPr id="5" name="Text 3"/>
          <p:cNvSpPr/>
          <p:nvPr/>
        </p:nvSpPr>
        <p:spPr>
          <a:xfrm>
            <a:off x="5272749" y="2004318"/>
            <a:ext cx="3002284" cy="270470"/>
          </a:xfrm>
          <a:prstGeom prst="rect">
            <a:avLst/>
          </a:prstGeom>
          <a:noFill/>
          <a:ln/>
        </p:spPr>
        <p:txBody>
          <a:bodyPr wrap="none" lIns="0" tIns="0" rIns="0" bIns="0" rtlCol="0" anchor="t"/>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A location or state.</a:t>
            </a:r>
            <a:endParaRPr lang="en-US" sz="1500" dirty="0"/>
          </a:p>
        </p:txBody>
      </p:sp>
      <p:sp>
        <p:nvSpPr>
          <p:cNvPr id="6" name="Text 4"/>
          <p:cNvSpPr/>
          <p:nvPr/>
        </p:nvSpPr>
        <p:spPr>
          <a:xfrm>
            <a:off x="8579826" y="1544284"/>
            <a:ext cx="3002284" cy="318492"/>
          </a:xfrm>
          <a:prstGeom prst="rect">
            <a:avLst/>
          </a:prstGeom>
          <a:noFill/>
          <a:ln/>
        </p:spPr>
        <p:txBody>
          <a:bodyPr wrap="none" lIns="0" tIns="0" rIns="0" bIns="0" rtlCol="0" anchor="t"/>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Edge</a:t>
            </a:r>
            <a:endParaRPr lang="en-US" sz="1900" dirty="0"/>
          </a:p>
        </p:txBody>
      </p:sp>
      <p:sp>
        <p:nvSpPr>
          <p:cNvPr id="7" name="Text 5"/>
          <p:cNvSpPr/>
          <p:nvPr/>
        </p:nvSpPr>
        <p:spPr>
          <a:xfrm>
            <a:off x="8579826" y="2004318"/>
            <a:ext cx="3002284" cy="270470"/>
          </a:xfrm>
          <a:prstGeom prst="rect">
            <a:avLst/>
          </a:prstGeom>
          <a:noFill/>
          <a:ln/>
        </p:spPr>
        <p:txBody>
          <a:bodyPr wrap="none" lIns="0" tIns="0" rIns="0" bIns="0" rtlCol="0" anchor="t"/>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A connection between vertices.</a:t>
            </a:r>
            <a:endParaRPr lang="en-US" sz="1500" dirty="0"/>
          </a:p>
        </p:txBody>
      </p:sp>
      <p:sp>
        <p:nvSpPr>
          <p:cNvPr id="8" name="Text 6"/>
          <p:cNvSpPr/>
          <p:nvPr/>
        </p:nvSpPr>
        <p:spPr>
          <a:xfrm>
            <a:off x="5272749" y="2851293"/>
            <a:ext cx="3002284" cy="318492"/>
          </a:xfrm>
          <a:prstGeom prst="rect">
            <a:avLst/>
          </a:prstGeom>
          <a:noFill/>
          <a:ln/>
        </p:spPr>
        <p:txBody>
          <a:bodyPr wrap="none" lIns="0" tIns="0" rIns="0" bIns="0" rtlCol="0" anchor="t"/>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Weight</a:t>
            </a:r>
            <a:endParaRPr lang="en-US" sz="1900" dirty="0"/>
          </a:p>
        </p:txBody>
      </p:sp>
      <p:sp>
        <p:nvSpPr>
          <p:cNvPr id="9" name="Text 7"/>
          <p:cNvSpPr/>
          <p:nvPr/>
        </p:nvSpPr>
        <p:spPr>
          <a:xfrm>
            <a:off x="5272749" y="3311327"/>
            <a:ext cx="3002284" cy="270470"/>
          </a:xfrm>
          <a:prstGeom prst="rect">
            <a:avLst/>
          </a:prstGeom>
          <a:noFill/>
          <a:ln/>
        </p:spPr>
        <p:txBody>
          <a:bodyPr wrap="none" lIns="0" tIns="0" rIns="0" bIns="0" rtlCol="0" anchor="t"/>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The cost of taking an edge.</a:t>
            </a:r>
            <a:endParaRPr lang="en-US" sz="1500" dirty="0"/>
          </a:p>
        </p:txBody>
      </p:sp>
      <p:sp>
        <p:nvSpPr>
          <p:cNvPr id="10" name="Text 8"/>
          <p:cNvSpPr/>
          <p:nvPr/>
        </p:nvSpPr>
        <p:spPr>
          <a:xfrm>
            <a:off x="8579826" y="2851293"/>
            <a:ext cx="3002284" cy="318492"/>
          </a:xfrm>
          <a:prstGeom prst="rect">
            <a:avLst/>
          </a:prstGeom>
          <a:noFill/>
          <a:ln/>
        </p:spPr>
        <p:txBody>
          <a:bodyPr wrap="none" lIns="0" tIns="0" rIns="0" bIns="0" rtlCol="0" anchor="t"/>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Source</a:t>
            </a:r>
            <a:endParaRPr lang="en-US" sz="1900" dirty="0"/>
          </a:p>
        </p:txBody>
      </p:sp>
      <p:sp>
        <p:nvSpPr>
          <p:cNvPr id="11" name="Text 9"/>
          <p:cNvSpPr/>
          <p:nvPr/>
        </p:nvSpPr>
        <p:spPr>
          <a:xfrm>
            <a:off x="8579826" y="3311327"/>
            <a:ext cx="3002284" cy="270470"/>
          </a:xfrm>
          <a:prstGeom prst="rect">
            <a:avLst/>
          </a:prstGeom>
          <a:noFill/>
          <a:ln/>
        </p:spPr>
        <p:txBody>
          <a:bodyPr wrap="none" lIns="0" tIns="0" rIns="0" bIns="0" rtlCol="0" anchor="t"/>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The starting vertex.</a:t>
            </a:r>
            <a:endParaRPr lang="en-US" sz="1500" dirty="0"/>
          </a:p>
        </p:txBody>
      </p:sp>
      <p:sp>
        <p:nvSpPr>
          <p:cNvPr id="12" name="Text 10"/>
          <p:cNvSpPr/>
          <p:nvPr/>
        </p:nvSpPr>
        <p:spPr>
          <a:xfrm>
            <a:off x="5272749" y="4158500"/>
            <a:ext cx="3002284" cy="318492"/>
          </a:xfrm>
          <a:prstGeom prst="rect">
            <a:avLst/>
          </a:prstGeom>
          <a:noFill/>
          <a:ln/>
        </p:spPr>
        <p:txBody>
          <a:bodyPr wrap="none" lIns="0" tIns="0" rIns="0" bIns="0" rtlCol="0" anchor="t"/>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Shortest path</a:t>
            </a:r>
            <a:endParaRPr lang="en-US" sz="1900" dirty="0"/>
          </a:p>
        </p:txBody>
      </p:sp>
      <p:sp>
        <p:nvSpPr>
          <p:cNvPr id="13" name="Text 11"/>
          <p:cNvSpPr/>
          <p:nvPr/>
        </p:nvSpPr>
        <p:spPr>
          <a:xfrm>
            <a:off x="5272749" y="4618534"/>
            <a:ext cx="3002284"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Minimum total weight from source to destination.</a:t>
            </a:r>
            <a:endParaRPr lang="en-US" sz="1500" dirty="0"/>
          </a:p>
        </p:txBody>
      </p:sp>
      <p:sp>
        <p:nvSpPr>
          <p:cNvPr id="14" name="Text 12"/>
          <p:cNvSpPr/>
          <p:nvPr/>
        </p:nvSpPr>
        <p:spPr>
          <a:xfrm>
            <a:off x="8579826" y="4158500"/>
            <a:ext cx="3002284" cy="318492"/>
          </a:xfrm>
          <a:prstGeom prst="rect">
            <a:avLst/>
          </a:prstGeom>
          <a:noFill/>
          <a:ln/>
        </p:spPr>
        <p:txBody>
          <a:bodyPr wrap="none" lIns="0" tIns="0" rIns="0" bIns="0" rtlCol="0" anchor="t"/>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Greedy strategy</a:t>
            </a:r>
            <a:endParaRPr lang="en-US" sz="1900" dirty="0"/>
          </a:p>
        </p:txBody>
      </p:sp>
      <p:sp>
        <p:nvSpPr>
          <p:cNvPr id="15" name="Text 13"/>
          <p:cNvSpPr/>
          <p:nvPr/>
        </p:nvSpPr>
        <p:spPr>
          <a:xfrm>
            <a:off x="8579826" y="4618534"/>
            <a:ext cx="3002284"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Permanently choose the closest unvisited vertex next.</a:t>
            </a:r>
            <a:endParaRPr lang="en-US" sz="1500" dirty="0"/>
          </a:p>
        </p:txBody>
      </p:sp>
      <p:sp>
        <p:nvSpPr>
          <p:cNvPr id="16" name="Text 14"/>
          <p:cNvSpPr/>
          <p:nvPr/>
        </p:nvSpPr>
        <p:spPr>
          <a:xfrm>
            <a:off x="11819634" y="6458545"/>
            <a:ext cx="372061"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9D9D9D"/>
                </a:solidFill>
                <a:latin typeface="Fira Mono" pitchFamily="34" charset="0"/>
                <a:ea typeface="Fira Mono" pitchFamily="34" charset="-122"/>
                <a:cs typeface="Fira Mono" pitchFamily="34" charset="-120"/>
              </a:rPr>
              <a:t>03</a:t>
            </a:r>
            <a:endParaRPr lang="en-US" sz="1050" dirty="0"/>
          </a:p>
        </p:txBody>
      </p:sp>
      <p:sp>
        <p:nvSpPr>
          <p:cNvPr id="17" name="Shape 15"/>
          <p:cNvSpPr/>
          <p:nvPr/>
        </p:nvSpPr>
        <p:spPr>
          <a:xfrm flipV="1">
            <a:off x="1450740" y="2210991"/>
            <a:ext cx="865860" cy="470098"/>
          </a:xfrm>
          <a:prstGeom prst="line">
            <a:avLst/>
          </a:prstGeom>
          <a:solidFill>
            <a:srgbClr val="9BE1FF"/>
          </a:solidFill>
          <a:ln w="25400">
            <a:solidFill>
              <a:srgbClr val="9BE1FF"/>
            </a:solidFill>
            <a:prstDash val="solid"/>
          </a:ln>
        </p:spPr>
      </p:sp>
      <p:sp>
        <p:nvSpPr>
          <p:cNvPr id="18" name="Shape 16"/>
          <p:cNvSpPr/>
          <p:nvPr/>
        </p:nvSpPr>
        <p:spPr>
          <a:xfrm>
            <a:off x="1450740" y="3101677"/>
            <a:ext cx="865860" cy="470098"/>
          </a:xfrm>
          <a:prstGeom prst="line">
            <a:avLst/>
          </a:prstGeom>
          <a:solidFill>
            <a:srgbClr val="9BE1FF"/>
          </a:solidFill>
          <a:ln w="25400">
            <a:solidFill>
              <a:srgbClr val="9BE1FF"/>
            </a:solidFill>
            <a:prstDash val="solid"/>
          </a:ln>
        </p:spPr>
      </p:sp>
      <p:sp>
        <p:nvSpPr>
          <p:cNvPr id="19" name="Shape 17"/>
          <p:cNvSpPr/>
          <p:nvPr/>
        </p:nvSpPr>
        <p:spPr>
          <a:xfrm>
            <a:off x="3009428" y="2210991"/>
            <a:ext cx="717433" cy="470098"/>
          </a:xfrm>
          <a:prstGeom prst="line">
            <a:avLst/>
          </a:prstGeom>
          <a:solidFill>
            <a:srgbClr val="9BE1FF"/>
          </a:solidFill>
          <a:ln w="12700">
            <a:solidFill>
              <a:srgbClr val="3F3F3F"/>
            </a:solidFill>
            <a:prstDash val="solid"/>
          </a:ln>
        </p:spPr>
      </p:sp>
      <p:sp>
        <p:nvSpPr>
          <p:cNvPr id="20" name="Shape 18"/>
          <p:cNvSpPr/>
          <p:nvPr/>
        </p:nvSpPr>
        <p:spPr>
          <a:xfrm flipV="1">
            <a:off x="3009428" y="3101677"/>
            <a:ext cx="717433" cy="470098"/>
          </a:xfrm>
          <a:prstGeom prst="line">
            <a:avLst/>
          </a:prstGeom>
          <a:solidFill>
            <a:srgbClr val="9BE1FF"/>
          </a:solidFill>
          <a:ln w="12700">
            <a:solidFill>
              <a:srgbClr val="3F3F3F"/>
            </a:solidFill>
            <a:prstDash val="solid"/>
          </a:ln>
        </p:spPr>
      </p:sp>
      <p:sp>
        <p:nvSpPr>
          <p:cNvPr id="21" name="Shape 19"/>
          <p:cNvSpPr/>
          <p:nvPr/>
        </p:nvSpPr>
        <p:spPr>
          <a:xfrm>
            <a:off x="832226" y="2656284"/>
            <a:ext cx="643219" cy="643235"/>
          </a:xfrm>
          <a:prstGeom prst="ellipse">
            <a:avLst/>
          </a:prstGeom>
          <a:solidFill>
            <a:srgbClr val="9BE1FF"/>
          </a:solidFill>
          <a:ln/>
        </p:spPr>
      </p:sp>
      <p:sp>
        <p:nvSpPr>
          <p:cNvPr id="22" name="Shape 20"/>
          <p:cNvSpPr/>
          <p:nvPr/>
        </p:nvSpPr>
        <p:spPr>
          <a:xfrm>
            <a:off x="2316700" y="1765598"/>
            <a:ext cx="643219" cy="643235"/>
          </a:xfrm>
          <a:prstGeom prst="ellipse">
            <a:avLst/>
          </a:prstGeom>
          <a:solidFill>
            <a:srgbClr val="241B55"/>
          </a:solidFill>
          <a:ln/>
        </p:spPr>
      </p:sp>
      <p:sp>
        <p:nvSpPr>
          <p:cNvPr id="23" name="Shape 21"/>
          <p:cNvSpPr/>
          <p:nvPr/>
        </p:nvSpPr>
        <p:spPr>
          <a:xfrm>
            <a:off x="2316700" y="3547070"/>
            <a:ext cx="643219" cy="643235"/>
          </a:xfrm>
          <a:prstGeom prst="ellipse">
            <a:avLst/>
          </a:prstGeom>
          <a:solidFill>
            <a:srgbClr val="07303A"/>
          </a:solidFill>
          <a:ln/>
        </p:spPr>
      </p:sp>
      <p:sp>
        <p:nvSpPr>
          <p:cNvPr id="24" name="Shape 22"/>
          <p:cNvSpPr/>
          <p:nvPr/>
        </p:nvSpPr>
        <p:spPr>
          <a:xfrm>
            <a:off x="3726960" y="2656284"/>
            <a:ext cx="643219" cy="643235"/>
          </a:xfrm>
          <a:prstGeom prst="ellipse">
            <a:avLst/>
          </a:prstGeom>
          <a:solidFill>
            <a:srgbClr val="241B55"/>
          </a:solidFill>
          <a:ln/>
        </p:spPr>
      </p:sp>
      <p:sp>
        <p:nvSpPr>
          <p:cNvPr id="25" name="Text 23"/>
          <p:cNvSpPr/>
          <p:nvPr/>
        </p:nvSpPr>
        <p:spPr>
          <a:xfrm>
            <a:off x="609585" y="2841823"/>
            <a:ext cx="1141483" cy="243384"/>
          </a:xfrm>
          <a:prstGeom prst="rect">
            <a:avLst/>
          </a:prstGeom>
          <a:noFill/>
          <a:ln/>
        </p:spPr>
        <p:txBody>
          <a:bodyPr wrap="none" lIns="0" tIns="0" rIns="0" bIns="0" rtlCol="0" anchor="t"/>
          <a:lstStyle/>
          <a:p>
            <a:pPr algn="ctr" indent="0" marL="0">
              <a:lnSpc>
                <a:spcPct val="118000"/>
              </a:lnSpc>
              <a:buNone/>
            </a:pPr>
            <a:r>
              <a:rPr lang="en-US" sz="1350" dirty="0">
                <a:solidFill>
                  <a:srgbClr val="D5D5D5"/>
                </a:solidFill>
                <a:latin typeface="Exo" pitchFamily="34" charset="0"/>
                <a:ea typeface="Exo" pitchFamily="34" charset="-122"/>
                <a:cs typeface="Exo" pitchFamily="34" charset="-120"/>
              </a:rPr>
              <a:t>A</a:t>
            </a:r>
            <a:endParaRPr lang="en-US" sz="1350" dirty="0"/>
          </a:p>
        </p:txBody>
      </p:sp>
      <p:sp>
        <p:nvSpPr>
          <p:cNvPr id="26" name="Text 24"/>
          <p:cNvSpPr/>
          <p:nvPr/>
        </p:nvSpPr>
        <p:spPr>
          <a:xfrm>
            <a:off x="2067568" y="1951137"/>
            <a:ext cx="1141483" cy="243384"/>
          </a:xfrm>
          <a:prstGeom prst="rect">
            <a:avLst/>
          </a:prstGeom>
          <a:noFill/>
          <a:ln/>
        </p:spPr>
        <p:txBody>
          <a:bodyPr wrap="none" lIns="0" tIns="0" rIns="0" bIns="0" rtlCol="0" anchor="t"/>
          <a:lstStyle/>
          <a:p>
            <a:pPr algn="ctr" indent="0" marL="0">
              <a:lnSpc>
                <a:spcPct val="118000"/>
              </a:lnSpc>
              <a:buNone/>
            </a:pPr>
            <a:r>
              <a:rPr lang="en-US" sz="1350" dirty="0">
                <a:solidFill>
                  <a:srgbClr val="D5D5D5"/>
                </a:solidFill>
                <a:latin typeface="Exo" pitchFamily="34" charset="0"/>
                <a:ea typeface="Exo" pitchFamily="34" charset="-122"/>
                <a:cs typeface="Exo" pitchFamily="34" charset="-120"/>
              </a:rPr>
              <a:t>B</a:t>
            </a:r>
            <a:endParaRPr lang="en-US" sz="1350" dirty="0"/>
          </a:p>
        </p:txBody>
      </p:sp>
      <p:sp>
        <p:nvSpPr>
          <p:cNvPr id="27" name="Text 25"/>
          <p:cNvSpPr/>
          <p:nvPr/>
        </p:nvSpPr>
        <p:spPr>
          <a:xfrm>
            <a:off x="2067568" y="3732609"/>
            <a:ext cx="1141483" cy="243384"/>
          </a:xfrm>
          <a:prstGeom prst="rect">
            <a:avLst/>
          </a:prstGeom>
          <a:noFill/>
          <a:ln/>
        </p:spPr>
        <p:txBody>
          <a:bodyPr wrap="none" lIns="0" tIns="0" rIns="0" bIns="0" rtlCol="0" anchor="t"/>
          <a:lstStyle/>
          <a:p>
            <a:pPr algn="ctr" indent="0" marL="0">
              <a:lnSpc>
                <a:spcPct val="118000"/>
              </a:lnSpc>
              <a:buNone/>
            </a:pPr>
            <a:r>
              <a:rPr lang="en-US" sz="1350" dirty="0">
                <a:solidFill>
                  <a:srgbClr val="D5D5D5"/>
                </a:solidFill>
                <a:latin typeface="Exo" pitchFamily="34" charset="0"/>
                <a:ea typeface="Exo" pitchFamily="34" charset="-122"/>
                <a:cs typeface="Exo" pitchFamily="34" charset="-120"/>
              </a:rPr>
              <a:t>C</a:t>
            </a:r>
            <a:endParaRPr lang="en-US" sz="1350" dirty="0"/>
          </a:p>
        </p:txBody>
      </p:sp>
      <p:sp>
        <p:nvSpPr>
          <p:cNvPr id="28" name="Text 26"/>
          <p:cNvSpPr/>
          <p:nvPr/>
        </p:nvSpPr>
        <p:spPr>
          <a:xfrm>
            <a:off x="3477828" y="2841823"/>
            <a:ext cx="1141483" cy="243384"/>
          </a:xfrm>
          <a:prstGeom prst="rect">
            <a:avLst/>
          </a:prstGeom>
          <a:noFill/>
          <a:ln/>
        </p:spPr>
        <p:txBody>
          <a:bodyPr wrap="none" lIns="0" tIns="0" rIns="0" bIns="0" rtlCol="0" anchor="t"/>
          <a:lstStyle/>
          <a:p>
            <a:pPr algn="ctr" indent="0" marL="0">
              <a:lnSpc>
                <a:spcPct val="118000"/>
              </a:lnSpc>
              <a:buNone/>
            </a:pPr>
            <a:r>
              <a:rPr lang="en-US" sz="1350" dirty="0">
                <a:solidFill>
                  <a:srgbClr val="D5D5D5"/>
                </a:solidFill>
                <a:latin typeface="Exo" pitchFamily="34" charset="0"/>
                <a:ea typeface="Exo" pitchFamily="34" charset="-122"/>
                <a:cs typeface="Exo" pitchFamily="34" charset="-120"/>
              </a:rPr>
              <a:t>D</a:t>
            </a:r>
            <a:endParaRPr lang="en-US" sz="1350" dirty="0"/>
          </a:p>
        </p:txBody>
      </p:sp>
      <p:sp>
        <p:nvSpPr>
          <p:cNvPr id="29" name="Text 27"/>
          <p:cNvSpPr/>
          <p:nvPr/>
        </p:nvSpPr>
        <p:spPr>
          <a:xfrm>
            <a:off x="609585" y="3350653"/>
            <a:ext cx="1512651" cy="184348"/>
          </a:xfrm>
          <a:prstGeom prst="rect">
            <a:avLst/>
          </a:prstGeom>
          <a:noFill/>
          <a:ln/>
        </p:spPr>
        <p:txBody>
          <a:bodyPr wrap="none" lIns="0" tIns="0" rIns="0" bIns="0" rtlCol="0" anchor="t"/>
          <a:lstStyle/>
          <a:p>
            <a:pPr algn="ctr" indent="0" marL="0">
              <a:lnSpc>
                <a:spcPct val="110000"/>
              </a:lnSpc>
              <a:buNone/>
            </a:pPr>
            <a:r>
              <a:rPr lang="en-US" sz="1100" spc="11" kern="100" dirty="0">
                <a:solidFill>
                  <a:srgbClr val="9D9D9D"/>
                </a:solidFill>
                <a:latin typeface="Exo" pitchFamily="34" charset="0"/>
                <a:ea typeface="Exo" pitchFamily="34" charset="-122"/>
                <a:cs typeface="Exo" pitchFamily="34" charset="-120"/>
              </a:rPr>
              <a:t>SOURCE</a:t>
            </a:r>
            <a:endParaRPr lang="en-US" sz="1100" dirty="0"/>
          </a:p>
        </p:txBody>
      </p:sp>
      <p:sp>
        <p:nvSpPr>
          <p:cNvPr id="30" name="Text 28"/>
          <p:cNvSpPr/>
          <p:nvPr/>
        </p:nvSpPr>
        <p:spPr>
          <a:xfrm>
            <a:off x="1399545" y="2224818"/>
            <a:ext cx="918842" cy="184348"/>
          </a:xfrm>
          <a:prstGeom prst="rect">
            <a:avLst/>
          </a:prstGeom>
          <a:noFill/>
          <a:ln/>
        </p:spPr>
        <p:txBody>
          <a:bodyPr wrap="none" lIns="0" tIns="0" rIns="0" bIns="0" rtlCol="0" anchor="t"/>
          <a:lstStyle/>
          <a:p>
            <a:pPr algn="ctr" indent="0" marL="0">
              <a:lnSpc>
                <a:spcPct val="110000"/>
              </a:lnSpc>
              <a:buNone/>
            </a:pPr>
            <a:r>
              <a:rPr lang="en-US" sz="1100" spc="11" kern="100" dirty="0">
                <a:solidFill>
                  <a:srgbClr val="9D9D9D"/>
                </a:solidFill>
                <a:latin typeface="Exo" pitchFamily="34" charset="0"/>
                <a:ea typeface="Exo" pitchFamily="34" charset="-122"/>
                <a:cs typeface="Exo" pitchFamily="34" charset="-120"/>
              </a:rPr>
              <a:t>w</a:t>
            </a:r>
            <a:endParaRPr lang="en-US" sz="1100" dirty="0"/>
          </a:p>
        </p:txBody>
      </p:sp>
      <p:sp>
        <p:nvSpPr>
          <p:cNvPr id="31" name="Text 29"/>
          <p:cNvSpPr/>
          <p:nvPr/>
        </p:nvSpPr>
        <p:spPr>
          <a:xfrm>
            <a:off x="1399545" y="3412466"/>
            <a:ext cx="918842" cy="184348"/>
          </a:xfrm>
          <a:prstGeom prst="rect">
            <a:avLst/>
          </a:prstGeom>
          <a:noFill/>
          <a:ln/>
        </p:spPr>
        <p:txBody>
          <a:bodyPr wrap="none" lIns="0" tIns="0" rIns="0" bIns="0" rtlCol="0" anchor="t"/>
          <a:lstStyle/>
          <a:p>
            <a:pPr algn="ctr" indent="0" marL="0">
              <a:lnSpc>
                <a:spcPct val="110000"/>
              </a:lnSpc>
              <a:buNone/>
            </a:pPr>
            <a:r>
              <a:rPr lang="en-US" sz="1100" spc="11" kern="100" dirty="0">
                <a:solidFill>
                  <a:srgbClr val="9D9D9D"/>
                </a:solidFill>
                <a:latin typeface="Exo" pitchFamily="34" charset="0"/>
                <a:ea typeface="Exo" pitchFamily="34" charset="-122"/>
                <a:cs typeface="Exo" pitchFamily="34" charset="-120"/>
              </a:rPr>
              <a:t>w</a:t>
            </a:r>
            <a:endParaRPr lang="en-US" sz="1100" dirty="0"/>
          </a:p>
        </p:txBody>
      </p:sp>
      <p:sp>
        <p:nvSpPr>
          <p:cNvPr id="32" name="Text 30"/>
          <p:cNvSpPr/>
          <p:nvPr/>
        </p:nvSpPr>
        <p:spPr>
          <a:xfrm>
            <a:off x="2859314" y="1989769"/>
            <a:ext cx="918842" cy="184348"/>
          </a:xfrm>
          <a:prstGeom prst="rect">
            <a:avLst/>
          </a:prstGeom>
          <a:noFill/>
          <a:ln/>
        </p:spPr>
        <p:txBody>
          <a:bodyPr wrap="none" lIns="0" tIns="0" rIns="0" bIns="0" rtlCol="0" anchor="t"/>
          <a:lstStyle/>
          <a:p>
            <a:pPr algn="ctr" indent="0" marL="0">
              <a:lnSpc>
                <a:spcPct val="110000"/>
              </a:lnSpc>
              <a:buNone/>
            </a:pPr>
            <a:r>
              <a:rPr lang="en-US" sz="1100" spc="11" kern="100" dirty="0">
                <a:solidFill>
                  <a:srgbClr val="9D9D9D"/>
                </a:solidFill>
                <a:latin typeface="Exo" pitchFamily="34" charset="0"/>
                <a:ea typeface="Exo" pitchFamily="34" charset="-122"/>
                <a:cs typeface="Exo" pitchFamily="34" charset="-120"/>
              </a:rPr>
              <a:t>w</a:t>
            </a:r>
            <a:endParaRPr lang="en-US" sz="1100" dirty="0"/>
          </a:p>
        </p:txBody>
      </p:sp>
      <p:sp>
        <p:nvSpPr>
          <p:cNvPr id="33" name="Text 31"/>
          <p:cNvSpPr/>
          <p:nvPr/>
        </p:nvSpPr>
        <p:spPr>
          <a:xfrm>
            <a:off x="2859314" y="3622810"/>
            <a:ext cx="918842" cy="184348"/>
          </a:xfrm>
          <a:prstGeom prst="rect">
            <a:avLst/>
          </a:prstGeom>
          <a:noFill/>
          <a:ln/>
        </p:spPr>
        <p:txBody>
          <a:bodyPr wrap="none" lIns="0" tIns="0" rIns="0" bIns="0" rtlCol="0" anchor="t"/>
          <a:lstStyle/>
          <a:p>
            <a:pPr algn="ctr" indent="0" marL="0">
              <a:lnSpc>
                <a:spcPct val="110000"/>
              </a:lnSpc>
              <a:buNone/>
            </a:pPr>
            <a:r>
              <a:rPr lang="en-US" sz="1100" spc="11" kern="100" dirty="0">
                <a:solidFill>
                  <a:srgbClr val="9D9D9D"/>
                </a:solidFill>
                <a:latin typeface="Exo" pitchFamily="34" charset="0"/>
                <a:ea typeface="Exo" pitchFamily="34" charset="-122"/>
                <a:cs typeface="Exo" pitchFamily="34" charset="-120"/>
              </a:rPr>
              <a:t>w</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11822"/>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THE GREEDY LOOP</a:t>
            </a:r>
            <a:endParaRPr lang="en-US" sz="1100" dirty="0"/>
          </a:p>
        </p:txBody>
      </p:sp>
      <p:sp>
        <p:nvSpPr>
          <p:cNvPr id="3" name="Text 1"/>
          <p:cNvSpPr/>
          <p:nvPr/>
        </p:nvSpPr>
        <p:spPr>
          <a:xfrm>
            <a:off x="609585" y="904042"/>
            <a:ext cx="10972526" cy="475555"/>
          </a:xfrm>
          <a:prstGeom prst="rect">
            <a:avLst/>
          </a:prstGeom>
          <a:noFill/>
          <a:ln/>
        </p:spPr>
        <p:txBody>
          <a:bodyPr wrap="none" lIns="0" tIns="0" rIns="0" bIns="0" rtlCol="0" anchor="t"/>
          <a:lstStyle/>
          <a:p>
            <a:pPr algn="l" indent="0" marL="0">
              <a:lnSpc>
                <a:spcPct val="89000"/>
              </a:lnSpc>
              <a:buNone/>
            </a:pPr>
            <a:r>
              <a:rPr lang="en-US" sz="3500" spc="-42" kern="100" dirty="0">
                <a:solidFill>
                  <a:srgbClr val="ECECEC"/>
                </a:solidFill>
                <a:latin typeface="Exo SemiBold" pitchFamily="34" charset="0"/>
                <a:ea typeface="Exo SemiBold" pitchFamily="34" charset="-122"/>
                <a:cs typeface="Exo SemiBold" pitchFamily="34" charset="-120"/>
              </a:rPr>
              <a:t>The algorithm repeats one safe greedy move</a:t>
            </a:r>
            <a:endParaRPr lang="en-US" sz="3500" dirty="0"/>
          </a:p>
        </p:txBody>
      </p:sp>
      <p:sp>
        <p:nvSpPr>
          <p:cNvPr id="4" name="Shape 2"/>
          <p:cNvSpPr/>
          <p:nvPr/>
        </p:nvSpPr>
        <p:spPr>
          <a:xfrm>
            <a:off x="609585" y="1588988"/>
            <a:ext cx="2743131" cy="31651"/>
          </a:xfrm>
          <a:prstGeom prst="roundRect">
            <a:avLst>
              <a:gd name="adj" fmla="val 49998"/>
            </a:avLst>
          </a:prstGeom>
          <a:solidFill>
            <a:srgbClr val="9BE1FF"/>
          </a:solidFill>
          <a:ln/>
        </p:spPr>
      </p:sp>
      <p:sp>
        <p:nvSpPr>
          <p:cNvPr id="5" name="Text 3"/>
          <p:cNvSpPr/>
          <p:nvPr/>
        </p:nvSpPr>
        <p:spPr>
          <a:xfrm>
            <a:off x="609585" y="1844576"/>
            <a:ext cx="10972526" cy="649089"/>
          </a:xfrm>
          <a:prstGeom prst="rect">
            <a:avLst/>
          </a:prstGeom>
          <a:noFill/>
          <a:ln/>
        </p:spPr>
        <p:txBody>
          <a:bodyPr wrap="square" lIns="0" tIns="0" rIns="0" bIns="0" rtlCol="0" anchor="t">
            <a:normAutofit/>
          </a:bodyPr>
          <a:lstStyle/>
          <a:p>
            <a:pPr algn="l" indent="0" marL="0">
              <a:lnSpc>
                <a:spcPct val="118000"/>
              </a:lnSpc>
              <a:buNone/>
            </a:pPr>
            <a:r>
              <a:rPr lang="en-US" sz="1800" dirty="0">
                <a:solidFill>
                  <a:srgbClr val="D5D5D5"/>
                </a:solidFill>
                <a:latin typeface="Exo" pitchFamily="34" charset="0"/>
                <a:ea typeface="Exo" pitchFamily="34" charset="-122"/>
                <a:cs typeface="Exo" pitchFamily="34" charset="-120"/>
              </a:rPr>
              <a:t>At every round, choose the closest unvisited vertex, improve its neighbors, then make that choice permanent.</a:t>
            </a:r>
            <a:endParaRPr lang="en-US" sz="1800" dirty="0"/>
          </a:p>
        </p:txBody>
      </p:sp>
      <p:sp>
        <p:nvSpPr>
          <p:cNvPr id="6" name="Text 4"/>
          <p:cNvSpPr/>
          <p:nvPr/>
        </p:nvSpPr>
        <p:spPr>
          <a:xfrm>
            <a:off x="609585" y="4305102"/>
            <a:ext cx="803751" cy="190500"/>
          </a:xfrm>
          <a:prstGeom prst="rect">
            <a:avLst/>
          </a:prstGeom>
          <a:noFill/>
          <a:ln/>
        </p:spPr>
        <p:txBody>
          <a:bodyPr wrap="none" lIns="0" tIns="0" rIns="0" bIns="0" rtlCol="0" anchor="t"/>
          <a:lstStyle/>
          <a:p>
            <a:pPr algn="l" indent="0" marL="0">
              <a:lnSpc>
                <a:spcPct val="83000"/>
              </a:lnSpc>
              <a:buNone/>
            </a:pPr>
            <a:r>
              <a:rPr lang="en-US" sz="1500" dirty="0">
                <a:solidFill>
                  <a:srgbClr val="9BE1FF"/>
                </a:solidFill>
                <a:latin typeface="Exo SemiBold" pitchFamily="34" charset="0"/>
                <a:ea typeface="Exo SemiBold" pitchFamily="34" charset="-122"/>
                <a:cs typeface="Exo SemiBold" pitchFamily="34" charset="-120"/>
              </a:rPr>
              <a:t>01</a:t>
            </a:r>
            <a:endParaRPr lang="en-US" sz="1500" dirty="0"/>
          </a:p>
        </p:txBody>
      </p:sp>
      <p:sp>
        <p:nvSpPr>
          <p:cNvPr id="7" name="Shape 5"/>
          <p:cNvSpPr/>
          <p:nvPr/>
        </p:nvSpPr>
        <p:spPr>
          <a:xfrm>
            <a:off x="609585" y="4571802"/>
            <a:ext cx="1950592" cy="19050"/>
          </a:xfrm>
          <a:prstGeom prst="rect">
            <a:avLst/>
          </a:prstGeom>
          <a:solidFill>
            <a:srgbClr val="9BE1FF"/>
          </a:solidFill>
          <a:ln/>
        </p:spPr>
      </p:sp>
      <p:sp>
        <p:nvSpPr>
          <p:cNvPr id="8" name="Text 6"/>
          <p:cNvSpPr/>
          <p:nvPr/>
        </p:nvSpPr>
        <p:spPr>
          <a:xfrm>
            <a:off x="609585" y="4706485"/>
            <a:ext cx="1950592" cy="318492"/>
          </a:xfrm>
          <a:prstGeom prst="rect">
            <a:avLst/>
          </a:prstGeom>
          <a:noFill/>
          <a:ln/>
        </p:spPr>
        <p:txBody>
          <a:bodyPr wrap="none" lIns="0" tIns="0" rIns="0" bIns="0" rtlCol="0" anchor="t"/>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Initialize</a:t>
            </a:r>
            <a:endParaRPr lang="en-US" sz="1900" dirty="0"/>
          </a:p>
        </p:txBody>
      </p:sp>
      <p:sp>
        <p:nvSpPr>
          <p:cNvPr id="9" name="Text 7"/>
          <p:cNvSpPr/>
          <p:nvPr/>
        </p:nvSpPr>
        <p:spPr>
          <a:xfrm>
            <a:off x="609585" y="5166519"/>
            <a:ext cx="1950592"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Source = 0; all others = ∞.</a:t>
            </a:r>
            <a:endParaRPr lang="en-US" sz="1500" dirty="0"/>
          </a:p>
        </p:txBody>
      </p:sp>
      <p:sp>
        <p:nvSpPr>
          <p:cNvPr id="10" name="Text 8"/>
          <p:cNvSpPr/>
          <p:nvPr/>
        </p:nvSpPr>
        <p:spPr>
          <a:xfrm>
            <a:off x="2864969" y="4305102"/>
            <a:ext cx="845620" cy="190500"/>
          </a:xfrm>
          <a:prstGeom prst="rect">
            <a:avLst/>
          </a:prstGeom>
          <a:noFill/>
          <a:ln/>
        </p:spPr>
        <p:txBody>
          <a:bodyPr wrap="none" lIns="0" tIns="0" rIns="0" bIns="0" rtlCol="0" anchor="t"/>
          <a:lstStyle/>
          <a:p>
            <a:pPr algn="l" indent="0" marL="0">
              <a:lnSpc>
                <a:spcPct val="83000"/>
              </a:lnSpc>
              <a:buNone/>
            </a:pPr>
            <a:r>
              <a:rPr lang="en-US" sz="1500" dirty="0">
                <a:solidFill>
                  <a:srgbClr val="9BE1FF"/>
                </a:solidFill>
                <a:latin typeface="Exo SemiBold" pitchFamily="34" charset="0"/>
                <a:ea typeface="Exo SemiBold" pitchFamily="34" charset="-122"/>
                <a:cs typeface="Exo SemiBold" pitchFamily="34" charset="-120"/>
              </a:rPr>
              <a:t>02</a:t>
            </a:r>
            <a:endParaRPr lang="en-US" sz="1500" dirty="0"/>
          </a:p>
        </p:txBody>
      </p:sp>
      <p:sp>
        <p:nvSpPr>
          <p:cNvPr id="11" name="Shape 9"/>
          <p:cNvSpPr/>
          <p:nvPr/>
        </p:nvSpPr>
        <p:spPr>
          <a:xfrm>
            <a:off x="2864969" y="4571802"/>
            <a:ext cx="1950592" cy="19050"/>
          </a:xfrm>
          <a:prstGeom prst="rect">
            <a:avLst/>
          </a:prstGeom>
          <a:solidFill>
            <a:srgbClr val="9BE1FF"/>
          </a:solidFill>
          <a:ln/>
        </p:spPr>
      </p:sp>
      <p:sp>
        <p:nvSpPr>
          <p:cNvPr id="12" name="Text 10"/>
          <p:cNvSpPr/>
          <p:nvPr/>
        </p:nvSpPr>
        <p:spPr>
          <a:xfrm>
            <a:off x="2864969" y="4706485"/>
            <a:ext cx="1950691" cy="318492"/>
          </a:xfrm>
          <a:prstGeom prst="rect">
            <a:avLst/>
          </a:prstGeom>
          <a:noFill/>
          <a:ln/>
        </p:spPr>
        <p:txBody>
          <a:bodyPr wrap="none" lIns="0" tIns="0" rIns="0" bIns="0" rtlCol="0" anchor="t"/>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Pick minimum</a:t>
            </a:r>
            <a:endParaRPr lang="en-US" sz="1900" dirty="0"/>
          </a:p>
        </p:txBody>
      </p:sp>
      <p:sp>
        <p:nvSpPr>
          <p:cNvPr id="13" name="Text 11"/>
          <p:cNvSpPr/>
          <p:nvPr/>
        </p:nvSpPr>
        <p:spPr>
          <a:xfrm>
            <a:off x="2864969" y="5166519"/>
            <a:ext cx="1950691"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Choose the smallest tentative distance.</a:t>
            </a:r>
            <a:endParaRPr lang="en-US" sz="1500" dirty="0"/>
          </a:p>
        </p:txBody>
      </p:sp>
      <p:sp>
        <p:nvSpPr>
          <p:cNvPr id="14" name="Text 12"/>
          <p:cNvSpPr/>
          <p:nvPr/>
        </p:nvSpPr>
        <p:spPr>
          <a:xfrm>
            <a:off x="5120452" y="4305102"/>
            <a:ext cx="844132" cy="190500"/>
          </a:xfrm>
          <a:prstGeom prst="rect">
            <a:avLst/>
          </a:prstGeom>
          <a:noFill/>
          <a:ln/>
        </p:spPr>
        <p:txBody>
          <a:bodyPr wrap="none" lIns="0" tIns="0" rIns="0" bIns="0" rtlCol="0" anchor="t"/>
          <a:lstStyle/>
          <a:p>
            <a:pPr algn="l" indent="0" marL="0">
              <a:lnSpc>
                <a:spcPct val="83000"/>
              </a:lnSpc>
              <a:buNone/>
            </a:pPr>
            <a:r>
              <a:rPr lang="en-US" sz="1500" dirty="0">
                <a:solidFill>
                  <a:srgbClr val="9BE1FF"/>
                </a:solidFill>
                <a:latin typeface="Exo SemiBold" pitchFamily="34" charset="0"/>
                <a:ea typeface="Exo SemiBold" pitchFamily="34" charset="-122"/>
                <a:cs typeface="Exo SemiBold" pitchFamily="34" charset="-120"/>
              </a:rPr>
              <a:t>03</a:t>
            </a:r>
            <a:endParaRPr lang="en-US" sz="1500" dirty="0"/>
          </a:p>
        </p:txBody>
      </p:sp>
      <p:sp>
        <p:nvSpPr>
          <p:cNvPr id="15" name="Shape 13"/>
          <p:cNvSpPr/>
          <p:nvPr/>
        </p:nvSpPr>
        <p:spPr>
          <a:xfrm>
            <a:off x="5120452" y="4571802"/>
            <a:ext cx="1950592" cy="19050"/>
          </a:xfrm>
          <a:prstGeom prst="rect">
            <a:avLst/>
          </a:prstGeom>
          <a:solidFill>
            <a:srgbClr val="9BE1FF"/>
          </a:solidFill>
          <a:ln/>
        </p:spPr>
      </p:sp>
      <p:sp>
        <p:nvSpPr>
          <p:cNvPr id="16" name="Text 14"/>
          <p:cNvSpPr/>
          <p:nvPr/>
        </p:nvSpPr>
        <p:spPr>
          <a:xfrm>
            <a:off x="5120452" y="4706485"/>
            <a:ext cx="1950691" cy="318492"/>
          </a:xfrm>
          <a:prstGeom prst="rect">
            <a:avLst/>
          </a:prstGeom>
          <a:noFill/>
          <a:ln/>
        </p:spPr>
        <p:txBody>
          <a:bodyPr wrap="none" lIns="0" tIns="0" rIns="0" bIns="0" rtlCol="0" anchor="t"/>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Relax</a:t>
            </a:r>
            <a:endParaRPr lang="en-US" sz="1900" dirty="0"/>
          </a:p>
        </p:txBody>
      </p:sp>
      <p:sp>
        <p:nvSpPr>
          <p:cNvPr id="17" name="Text 15"/>
          <p:cNvSpPr/>
          <p:nvPr/>
        </p:nvSpPr>
        <p:spPr>
          <a:xfrm>
            <a:off x="5120452" y="5166519"/>
            <a:ext cx="1950691" cy="81141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Replace a neighbor’s distance if the route is shorter.</a:t>
            </a:r>
            <a:endParaRPr lang="en-US" sz="1500" dirty="0"/>
          </a:p>
        </p:txBody>
      </p:sp>
      <p:sp>
        <p:nvSpPr>
          <p:cNvPr id="18" name="Text 16"/>
          <p:cNvSpPr/>
          <p:nvPr/>
        </p:nvSpPr>
        <p:spPr>
          <a:xfrm>
            <a:off x="7375936" y="4305102"/>
            <a:ext cx="849688" cy="190500"/>
          </a:xfrm>
          <a:prstGeom prst="rect">
            <a:avLst/>
          </a:prstGeom>
          <a:noFill/>
          <a:ln/>
        </p:spPr>
        <p:txBody>
          <a:bodyPr wrap="none" lIns="0" tIns="0" rIns="0" bIns="0" rtlCol="0" anchor="t"/>
          <a:lstStyle/>
          <a:p>
            <a:pPr algn="l" indent="0" marL="0">
              <a:lnSpc>
                <a:spcPct val="83000"/>
              </a:lnSpc>
              <a:buNone/>
            </a:pPr>
            <a:r>
              <a:rPr lang="en-US" sz="1500" dirty="0">
                <a:solidFill>
                  <a:srgbClr val="9BE1FF"/>
                </a:solidFill>
                <a:latin typeface="Exo SemiBold" pitchFamily="34" charset="0"/>
                <a:ea typeface="Exo SemiBold" pitchFamily="34" charset="-122"/>
                <a:cs typeface="Exo SemiBold" pitchFamily="34" charset="-120"/>
              </a:rPr>
              <a:t>04</a:t>
            </a:r>
            <a:endParaRPr lang="en-US" sz="1500" dirty="0"/>
          </a:p>
        </p:txBody>
      </p:sp>
      <p:sp>
        <p:nvSpPr>
          <p:cNvPr id="19" name="Shape 17"/>
          <p:cNvSpPr/>
          <p:nvPr/>
        </p:nvSpPr>
        <p:spPr>
          <a:xfrm>
            <a:off x="7375936" y="4571802"/>
            <a:ext cx="1950592" cy="19050"/>
          </a:xfrm>
          <a:prstGeom prst="rect">
            <a:avLst/>
          </a:prstGeom>
          <a:solidFill>
            <a:srgbClr val="9BE1FF"/>
          </a:solidFill>
          <a:ln/>
        </p:spPr>
      </p:sp>
      <p:sp>
        <p:nvSpPr>
          <p:cNvPr id="20" name="Text 18"/>
          <p:cNvSpPr/>
          <p:nvPr/>
        </p:nvSpPr>
        <p:spPr>
          <a:xfrm>
            <a:off x="7375936" y="4706485"/>
            <a:ext cx="1950691" cy="318492"/>
          </a:xfrm>
          <a:prstGeom prst="rect">
            <a:avLst/>
          </a:prstGeom>
          <a:noFill/>
          <a:ln/>
        </p:spPr>
        <p:txBody>
          <a:bodyPr wrap="none" lIns="0" tIns="0" rIns="0" bIns="0" rtlCol="0" anchor="t"/>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Mark visited</a:t>
            </a:r>
            <a:endParaRPr lang="en-US" sz="1900" dirty="0"/>
          </a:p>
        </p:txBody>
      </p:sp>
      <p:sp>
        <p:nvSpPr>
          <p:cNvPr id="21" name="Text 19"/>
          <p:cNvSpPr/>
          <p:nvPr/>
        </p:nvSpPr>
        <p:spPr>
          <a:xfrm>
            <a:off x="7375936" y="5166519"/>
            <a:ext cx="1950691"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The chosen vertex is finalized.</a:t>
            </a:r>
            <a:endParaRPr lang="en-US" sz="1500" dirty="0"/>
          </a:p>
        </p:txBody>
      </p:sp>
      <p:sp>
        <p:nvSpPr>
          <p:cNvPr id="22" name="Text 20"/>
          <p:cNvSpPr/>
          <p:nvPr/>
        </p:nvSpPr>
        <p:spPr>
          <a:xfrm>
            <a:off x="9631419" y="4305102"/>
            <a:ext cx="850779" cy="190500"/>
          </a:xfrm>
          <a:prstGeom prst="rect">
            <a:avLst/>
          </a:prstGeom>
          <a:noFill/>
          <a:ln/>
        </p:spPr>
        <p:txBody>
          <a:bodyPr wrap="none" lIns="0" tIns="0" rIns="0" bIns="0" rtlCol="0" anchor="t"/>
          <a:lstStyle/>
          <a:p>
            <a:pPr algn="l" indent="0" marL="0">
              <a:lnSpc>
                <a:spcPct val="83000"/>
              </a:lnSpc>
              <a:buNone/>
            </a:pPr>
            <a:r>
              <a:rPr lang="en-US" sz="1500" dirty="0">
                <a:solidFill>
                  <a:srgbClr val="9BE1FF"/>
                </a:solidFill>
                <a:latin typeface="Exo SemiBold" pitchFamily="34" charset="0"/>
                <a:ea typeface="Exo SemiBold" pitchFamily="34" charset="-122"/>
                <a:cs typeface="Exo SemiBold" pitchFamily="34" charset="-120"/>
              </a:rPr>
              <a:t>05</a:t>
            </a:r>
            <a:endParaRPr lang="en-US" sz="1500" dirty="0"/>
          </a:p>
        </p:txBody>
      </p:sp>
      <p:sp>
        <p:nvSpPr>
          <p:cNvPr id="23" name="Shape 21"/>
          <p:cNvSpPr/>
          <p:nvPr/>
        </p:nvSpPr>
        <p:spPr>
          <a:xfrm>
            <a:off x="9631419" y="4571802"/>
            <a:ext cx="1950592" cy="19050"/>
          </a:xfrm>
          <a:prstGeom prst="rect">
            <a:avLst/>
          </a:prstGeom>
          <a:solidFill>
            <a:srgbClr val="9BE1FF"/>
          </a:solidFill>
          <a:ln/>
        </p:spPr>
      </p:sp>
      <p:sp>
        <p:nvSpPr>
          <p:cNvPr id="24" name="Text 22"/>
          <p:cNvSpPr/>
          <p:nvPr/>
        </p:nvSpPr>
        <p:spPr>
          <a:xfrm>
            <a:off x="9631419" y="4706485"/>
            <a:ext cx="1950691" cy="318492"/>
          </a:xfrm>
          <a:prstGeom prst="rect">
            <a:avLst/>
          </a:prstGeom>
          <a:noFill/>
          <a:ln/>
        </p:spPr>
        <p:txBody>
          <a:bodyPr wrap="none" lIns="0" tIns="0" rIns="0" bIns="0" rtlCol="0" anchor="t"/>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Stop or repeat</a:t>
            </a:r>
            <a:endParaRPr lang="en-US" sz="1900" dirty="0"/>
          </a:p>
        </p:txBody>
      </p:sp>
      <p:sp>
        <p:nvSpPr>
          <p:cNvPr id="25" name="Text 23"/>
          <p:cNvSpPr/>
          <p:nvPr/>
        </p:nvSpPr>
        <p:spPr>
          <a:xfrm>
            <a:off x="9631419" y="5166519"/>
            <a:ext cx="1950691" cy="108188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Stop at the destination or continue through reachable vertices.</a:t>
            </a:r>
            <a:endParaRPr lang="en-US" sz="1500" dirty="0"/>
          </a:p>
        </p:txBody>
      </p:sp>
      <p:sp>
        <p:nvSpPr>
          <p:cNvPr id="26" name="Text 24"/>
          <p:cNvSpPr/>
          <p:nvPr/>
        </p:nvSpPr>
        <p:spPr>
          <a:xfrm>
            <a:off x="11819634" y="6458545"/>
            <a:ext cx="372061"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9D9D9D"/>
                </a:solidFill>
                <a:latin typeface="Fira Mono" pitchFamily="34" charset="0"/>
                <a:ea typeface="Fira Mono" pitchFamily="34" charset="-122"/>
                <a:cs typeface="Fira Mono"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11822"/>
            <a:ext cx="4739561"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WORKED EXAMPLE · A → D</a:t>
            </a:r>
            <a:endParaRPr lang="en-US" sz="1100" dirty="0"/>
          </a:p>
        </p:txBody>
      </p:sp>
      <p:sp>
        <p:nvSpPr>
          <p:cNvPr id="3" name="Text 1"/>
          <p:cNvSpPr/>
          <p:nvPr/>
        </p:nvSpPr>
        <p:spPr>
          <a:xfrm>
            <a:off x="609585" y="904042"/>
            <a:ext cx="4129976" cy="951111"/>
          </a:xfrm>
          <a:prstGeom prst="rect">
            <a:avLst/>
          </a:prstGeom>
          <a:noFill/>
          <a:ln/>
        </p:spPr>
        <p:txBody>
          <a:bodyPr wrap="square" lIns="0" tIns="0" rIns="0" bIns="0" rtlCol="0" anchor="t">
            <a:normAutofit/>
          </a:bodyPr>
          <a:lstStyle/>
          <a:p>
            <a:pPr algn="l" indent="0" marL="0">
              <a:lnSpc>
                <a:spcPct val="89000"/>
              </a:lnSpc>
              <a:buNone/>
            </a:pPr>
            <a:r>
              <a:rPr lang="en-US" sz="3500" spc="-42" kern="100" dirty="0">
                <a:solidFill>
                  <a:srgbClr val="ECECEC"/>
                </a:solidFill>
                <a:latin typeface="Exo SemiBold" pitchFamily="34" charset="0"/>
                <a:ea typeface="Exo SemiBold" pitchFamily="34" charset="-122"/>
                <a:cs typeface="Exo SemiBold" pitchFamily="34" charset="-120"/>
              </a:rPr>
              <a:t>A reaches D with cost 4</a:t>
            </a:r>
            <a:endParaRPr lang="en-US" sz="3500" dirty="0"/>
          </a:p>
        </p:txBody>
      </p:sp>
      <p:sp>
        <p:nvSpPr>
          <p:cNvPr id="4" name="Shape 2"/>
          <p:cNvSpPr/>
          <p:nvPr/>
        </p:nvSpPr>
        <p:spPr>
          <a:xfrm>
            <a:off x="609585" y="2064544"/>
            <a:ext cx="1032444" cy="31651"/>
          </a:xfrm>
          <a:prstGeom prst="roundRect">
            <a:avLst>
              <a:gd name="adj" fmla="val 49998"/>
            </a:avLst>
          </a:prstGeom>
          <a:solidFill>
            <a:srgbClr val="9BE1FF"/>
          </a:solidFill>
          <a:ln/>
        </p:spPr>
      </p:sp>
      <p:sp>
        <p:nvSpPr>
          <p:cNvPr id="5" name="Text 3"/>
          <p:cNvSpPr/>
          <p:nvPr/>
        </p:nvSpPr>
        <p:spPr>
          <a:xfrm>
            <a:off x="609585" y="2320131"/>
            <a:ext cx="4129976"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Edges: A–B = 4, A–C = 1, C–B = 2, B–D = 1, C–D = 5.</a:t>
            </a:r>
            <a:endParaRPr lang="en-US" sz="1500" dirty="0"/>
          </a:p>
        </p:txBody>
      </p:sp>
      <p:sp>
        <p:nvSpPr>
          <p:cNvPr id="6" name="Text 4"/>
          <p:cNvSpPr/>
          <p:nvPr/>
        </p:nvSpPr>
        <p:spPr>
          <a:xfrm>
            <a:off x="609585" y="5478244"/>
            <a:ext cx="4739561" cy="198041"/>
          </a:xfrm>
          <a:prstGeom prst="rect">
            <a:avLst/>
          </a:prstGeom>
          <a:noFill/>
          <a:ln/>
        </p:spPr>
        <p:txBody>
          <a:bodyPr wrap="none" lIns="0" tIns="0" rIns="0" bIns="0" rtlCol="0" anchor="t"/>
          <a:lstStyle/>
          <a:p>
            <a:pPr algn="l" indent="0" marL="0">
              <a:lnSpc>
                <a:spcPct val="108000"/>
              </a:lnSpc>
              <a:buNone/>
            </a:pPr>
            <a:r>
              <a:rPr lang="en-US" sz="1200" spc="192" kern="100" dirty="0">
                <a:solidFill>
                  <a:srgbClr val="D5D5D5"/>
                </a:solidFill>
                <a:latin typeface="Michroma" pitchFamily="34" charset="0"/>
                <a:ea typeface="Michroma" pitchFamily="34" charset="-122"/>
                <a:cs typeface="Michroma" pitchFamily="34" charset="-120"/>
              </a:rPr>
              <a:t>A → C → B → D</a:t>
            </a:r>
            <a:endParaRPr lang="en-US" sz="1200" dirty="0"/>
          </a:p>
        </p:txBody>
      </p:sp>
      <p:sp>
        <p:nvSpPr>
          <p:cNvPr id="7" name="Text 5"/>
          <p:cNvSpPr/>
          <p:nvPr/>
        </p:nvSpPr>
        <p:spPr>
          <a:xfrm>
            <a:off x="609585" y="5832177"/>
            <a:ext cx="4739561" cy="270470"/>
          </a:xfrm>
          <a:prstGeom prst="rect">
            <a:avLst/>
          </a:prstGeom>
          <a:noFill/>
          <a:ln/>
        </p:spPr>
        <p:txBody>
          <a:bodyPr wrap="none" lIns="0" tIns="0" rIns="0" bIns="0" rtlCol="0" anchor="t"/>
          <a:lstStyle/>
          <a:p>
            <a:pPr algn="l" indent="0" marL="0">
              <a:lnSpc>
                <a:spcPct val="118000"/>
              </a:lnSpc>
              <a:buNone/>
            </a:pPr>
            <a:r>
              <a:rPr lang="en-US" sz="1500" b="1" dirty="0">
                <a:solidFill>
                  <a:srgbClr val="D5D5D5"/>
                </a:solidFill>
                <a:latin typeface="Exo Bold" pitchFamily="34" charset="0"/>
                <a:ea typeface="Exo Bold" pitchFamily="34" charset="-122"/>
                <a:cs typeface="Exo Bold" pitchFamily="34" charset="-120"/>
              </a:rPr>
              <a:t>Total cost = 1 + 2 + 1 = 4</a:t>
            </a:r>
            <a:endParaRPr lang="en-US" sz="1500" dirty="0"/>
          </a:p>
        </p:txBody>
      </p:sp>
      <p:sp>
        <p:nvSpPr>
          <p:cNvPr id="8" name="Text 6"/>
          <p:cNvSpPr/>
          <p:nvPr/>
        </p:nvSpPr>
        <p:spPr>
          <a:xfrm>
            <a:off x="6263424" y="611822"/>
            <a:ext cx="5928271"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DISTANCE UPDATES FROM SOURCE A</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263424" y="968970"/>
          <a:ext cx="5604826" cy="914400"/>
        </p:xfrm>
        <a:graphic>
          <a:graphicData uri="http://schemas.openxmlformats.org/drawingml/2006/table">
            <a:tbl>
              <a:tblPr/>
              <a:tblGrid>
                <a:gridCol w="930153"/>
                <a:gridCol w="1280485"/>
                <a:gridCol w="513345"/>
                <a:gridCol w="509178"/>
                <a:gridCol w="511261"/>
                <a:gridCol w="515329"/>
                <a:gridCol w="1345075"/>
              </a:tblGrid>
              <a:tr h="398849">
                <a:tc>
                  <a:txBody>
                    <a:bodyPr/>
                    <a:lstStyle/>
                    <a:p>
                      <a:pPr algn="l" indent="0" marL="0">
                        <a:buNone/>
                      </a:pPr>
                      <a:r>
                        <a:rPr lang="en-US" sz="1050" spc="126" kern="100" dirty="0">
                          <a:solidFill>
                            <a:srgbClr val="DADADA"/>
                          </a:solidFill>
                          <a:latin typeface="Michroma" pitchFamily="34" charset="0"/>
                          <a:ea typeface="Michroma" pitchFamily="34" charset="-122"/>
                          <a:cs typeface="Michroma" pitchFamily="34" charset="-120"/>
                        </a:rPr>
                        <a:t>STEP</a:t>
                      </a:r>
                      <a:endParaRPr lang="en-US" sz="1050" dirty="0">
                        <a:latin typeface="Michroma" charset="0"/>
                        <a:ea typeface="Michroma" charset="0"/>
                        <a:cs typeface="Michroma"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050" spc="126" kern="100" dirty="0">
                          <a:solidFill>
                            <a:srgbClr val="DADADA"/>
                          </a:solidFill>
                          <a:latin typeface="Michroma" pitchFamily="34" charset="0"/>
                          <a:ea typeface="Michroma" pitchFamily="34" charset="-122"/>
                          <a:cs typeface="Michroma" pitchFamily="34" charset="-120"/>
                        </a:rPr>
                        <a:t>CHOSEN</a:t>
                      </a:r>
                      <a:endParaRPr lang="en-US" sz="1050" dirty="0">
                        <a:latin typeface="Michroma" charset="0"/>
                        <a:ea typeface="Michroma" charset="0"/>
                        <a:cs typeface="Michroma"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050" spc="126" kern="100" dirty="0">
                          <a:solidFill>
                            <a:srgbClr val="DADADA"/>
                          </a:solidFill>
                          <a:latin typeface="Michroma" pitchFamily="34" charset="0"/>
                          <a:ea typeface="Michroma" pitchFamily="34" charset="-122"/>
                          <a:cs typeface="Michroma" pitchFamily="34" charset="-120"/>
                        </a:rPr>
                        <a:t>A</a:t>
                      </a:r>
                      <a:endParaRPr lang="en-US" sz="1050" dirty="0">
                        <a:latin typeface="Michroma" charset="0"/>
                        <a:ea typeface="Michroma" charset="0"/>
                        <a:cs typeface="Michroma"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050" spc="126" kern="100" dirty="0">
                          <a:solidFill>
                            <a:srgbClr val="DADADA"/>
                          </a:solidFill>
                          <a:latin typeface="Michroma" pitchFamily="34" charset="0"/>
                          <a:ea typeface="Michroma" pitchFamily="34" charset="-122"/>
                          <a:cs typeface="Michroma" pitchFamily="34" charset="-120"/>
                        </a:rPr>
                        <a:t>B</a:t>
                      </a:r>
                      <a:endParaRPr lang="en-US" sz="1050" dirty="0">
                        <a:latin typeface="Michroma" charset="0"/>
                        <a:ea typeface="Michroma" charset="0"/>
                        <a:cs typeface="Michroma"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050" spc="126" kern="100" dirty="0">
                          <a:solidFill>
                            <a:srgbClr val="DADADA"/>
                          </a:solidFill>
                          <a:latin typeface="Michroma" pitchFamily="34" charset="0"/>
                          <a:ea typeface="Michroma" pitchFamily="34" charset="-122"/>
                          <a:cs typeface="Michroma" pitchFamily="34" charset="-120"/>
                        </a:rPr>
                        <a:t>C</a:t>
                      </a:r>
                      <a:endParaRPr lang="en-US" sz="1050" dirty="0">
                        <a:latin typeface="Michroma" charset="0"/>
                        <a:ea typeface="Michroma" charset="0"/>
                        <a:cs typeface="Michroma"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050" spc="126" kern="100" dirty="0">
                          <a:solidFill>
                            <a:srgbClr val="DADADA"/>
                          </a:solidFill>
                          <a:latin typeface="Michroma" pitchFamily="34" charset="0"/>
                          <a:ea typeface="Michroma" pitchFamily="34" charset="-122"/>
                          <a:cs typeface="Michroma" pitchFamily="34" charset="-120"/>
                        </a:rPr>
                        <a:t>D</a:t>
                      </a:r>
                      <a:endParaRPr lang="en-US" sz="1050" dirty="0">
                        <a:latin typeface="Michroma" charset="0"/>
                        <a:ea typeface="Michroma" charset="0"/>
                        <a:cs typeface="Michroma"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050" spc="126" kern="100" dirty="0">
                          <a:solidFill>
                            <a:srgbClr val="DADADA"/>
                          </a:solidFill>
                          <a:latin typeface="Michroma" pitchFamily="34" charset="0"/>
                          <a:ea typeface="Michroma" pitchFamily="34" charset="-122"/>
                          <a:cs typeface="Michroma" pitchFamily="34" charset="-120"/>
                        </a:rPr>
                        <a:t>UPDATE</a:t>
                      </a:r>
                      <a:endParaRPr lang="en-US" sz="1050" dirty="0">
                        <a:latin typeface="Michroma" charset="0"/>
                        <a:ea typeface="Michroma" charset="0"/>
                        <a:cs typeface="Michroma"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r>
              <a:tr h="480008">
                <a:tc>
                  <a:txBody>
                    <a:bodyPr/>
                    <a:lstStyle/>
                    <a:p>
                      <a:pPr algn="l" indent="0" marL="0">
                        <a:buNone/>
                      </a:pPr>
                      <a:r>
                        <a:rPr lang="en-US" sz="1500" dirty="0">
                          <a:solidFill>
                            <a:srgbClr val="D5D5D5"/>
                          </a:solidFill>
                          <a:latin typeface="Exo" pitchFamily="34" charset="0"/>
                          <a:ea typeface="Exo" pitchFamily="34" charset="-122"/>
                          <a:cs typeface="Exo" pitchFamily="34" charset="-120"/>
                        </a:rPr>
                        <a:t>0</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0</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Start at A</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r>
              <a:tr h="480008">
                <a:tc>
                  <a:txBody>
                    <a:bodyPr/>
                    <a:lstStyle/>
                    <a:p>
                      <a:pPr algn="l" indent="0" marL="0">
                        <a:buNone/>
                      </a:pPr>
                      <a:r>
                        <a:rPr lang="en-US" sz="1500" dirty="0">
                          <a:solidFill>
                            <a:srgbClr val="D5D5D5"/>
                          </a:solidFill>
                          <a:latin typeface="Exo" pitchFamily="34" charset="0"/>
                          <a:ea typeface="Exo" pitchFamily="34" charset="-122"/>
                          <a:cs typeface="Exo" pitchFamily="34" charset="-120"/>
                        </a:rPr>
                        <a:t>1</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A</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0</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4</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1</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B=4, C=1</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r>
              <a:tr h="750472">
                <a:tc>
                  <a:txBody>
                    <a:bodyPr/>
                    <a:lstStyle/>
                    <a:p>
                      <a:pPr algn="l" indent="0" marL="0">
                        <a:buNone/>
                      </a:pPr>
                      <a:r>
                        <a:rPr lang="en-US" sz="1500" dirty="0">
                          <a:solidFill>
                            <a:srgbClr val="D5D5D5"/>
                          </a:solidFill>
                          <a:latin typeface="Exo" pitchFamily="34" charset="0"/>
                          <a:ea typeface="Exo" pitchFamily="34" charset="-122"/>
                          <a:cs typeface="Exo" pitchFamily="34" charset="-120"/>
                        </a:rPr>
                        <a:t>2</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C</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0</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3</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1</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6</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B improves 4→3; D=6</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r>
              <a:tr h="1020935">
                <a:tc>
                  <a:txBody>
                    <a:bodyPr/>
                    <a:lstStyle/>
                    <a:p>
                      <a:pPr algn="l" indent="0" marL="0">
                        <a:buNone/>
                      </a:pPr>
                      <a:r>
                        <a:rPr lang="en-US" sz="1500" dirty="0">
                          <a:solidFill>
                            <a:srgbClr val="D5D5D5"/>
                          </a:solidFill>
                          <a:latin typeface="Exo" pitchFamily="34" charset="0"/>
                          <a:ea typeface="Exo" pitchFamily="34" charset="-122"/>
                          <a:cs typeface="Exo" pitchFamily="34" charset="-120"/>
                        </a:rPr>
                        <a:t>3</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B</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0</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3</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1</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4</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D improves 6→4</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r>
              <a:tr h="744122">
                <a:tc>
                  <a:txBody>
                    <a:bodyPr/>
                    <a:lstStyle/>
                    <a:p>
                      <a:pPr algn="l" indent="0" marL="0">
                        <a:buNone/>
                      </a:pPr>
                      <a:r>
                        <a:rPr lang="en-US" sz="1500" dirty="0">
                          <a:solidFill>
                            <a:srgbClr val="D5D5D5"/>
                          </a:solidFill>
                          <a:latin typeface="Exo" pitchFamily="34" charset="0"/>
                          <a:ea typeface="Exo" pitchFamily="34" charset="-122"/>
                          <a:cs typeface="Exo" pitchFamily="34" charset="-120"/>
                        </a:rPr>
                        <a:t>4</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050505"/>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D</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050505"/>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0</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050505"/>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3</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050505"/>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1</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050505"/>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4</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050505"/>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Destination finalized</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050505"/>
                      </a:solidFill>
                      <a:prstDash val="solid"/>
                      <a:round/>
                      <a:headEnd type="none" w="med" len="med"/>
                      <a:tailEnd type="none" w="med" len="med"/>
                    </a:lnB>
                  </a:tcPr>
                </a:tc>
              </a:tr>
            </a:tbl>
          </a:graphicData>
        </a:graphic>
      </p:graphicFrame>
      <p:sp>
        <p:nvSpPr>
          <p:cNvPr id="10" name="Text 7"/>
          <p:cNvSpPr/>
          <p:nvPr/>
        </p:nvSpPr>
        <p:spPr>
          <a:xfrm>
            <a:off x="11819634" y="6458545"/>
            <a:ext cx="372061"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9D9D9D"/>
                </a:solidFill>
                <a:latin typeface="Fira Mono" pitchFamily="34" charset="0"/>
                <a:ea typeface="Fira Mono" pitchFamily="34" charset="-122"/>
                <a:cs typeface="Fira Mono" pitchFamily="34" charset="-120"/>
              </a:rPr>
              <a:t>05</a:t>
            </a:r>
            <a:endParaRPr lang="en-US" sz="1050" dirty="0"/>
          </a:p>
        </p:txBody>
      </p:sp>
      <p:sp>
        <p:nvSpPr>
          <p:cNvPr id="11" name="Shape 8"/>
          <p:cNvSpPr/>
          <p:nvPr/>
        </p:nvSpPr>
        <p:spPr>
          <a:xfrm>
            <a:off x="1415320" y="3666827"/>
            <a:ext cx="1208653" cy="20141"/>
          </a:xfrm>
          <a:prstGeom prst="line">
            <a:avLst/>
          </a:prstGeom>
          <a:solidFill>
            <a:srgbClr val="9BE1FF"/>
          </a:solidFill>
          <a:ln w="38100">
            <a:solidFill>
              <a:srgbClr val="9BE1FF"/>
            </a:solidFill>
            <a:prstDash val="solid"/>
          </a:ln>
        </p:spPr>
      </p:sp>
      <p:sp>
        <p:nvSpPr>
          <p:cNvPr id="12" name="Shape 9"/>
          <p:cNvSpPr/>
          <p:nvPr/>
        </p:nvSpPr>
        <p:spPr>
          <a:xfrm>
            <a:off x="1415320" y="3666827"/>
            <a:ext cx="805735" cy="1007269"/>
          </a:xfrm>
          <a:prstGeom prst="line">
            <a:avLst/>
          </a:prstGeom>
          <a:solidFill>
            <a:srgbClr val="9BE1FF"/>
          </a:solidFill>
          <a:ln w="38100">
            <a:solidFill>
              <a:srgbClr val="9BE1FF"/>
            </a:solidFill>
            <a:prstDash val="solid"/>
          </a:ln>
        </p:spPr>
      </p:sp>
      <p:sp>
        <p:nvSpPr>
          <p:cNvPr id="13" name="Shape 10"/>
          <p:cNvSpPr/>
          <p:nvPr/>
        </p:nvSpPr>
        <p:spPr>
          <a:xfrm>
            <a:off x="2221155" y="4674195"/>
            <a:ext cx="1208653" cy="20141"/>
          </a:xfrm>
          <a:prstGeom prst="line">
            <a:avLst/>
          </a:prstGeom>
          <a:solidFill>
            <a:srgbClr val="9BE1FF"/>
          </a:solidFill>
          <a:ln w="38100">
            <a:solidFill>
              <a:srgbClr val="9BE1FF"/>
            </a:solidFill>
            <a:prstDash val="solid"/>
          </a:ln>
        </p:spPr>
      </p:sp>
      <p:sp>
        <p:nvSpPr>
          <p:cNvPr id="14" name="Shape 11"/>
          <p:cNvSpPr/>
          <p:nvPr/>
        </p:nvSpPr>
        <p:spPr>
          <a:xfrm>
            <a:off x="2624072" y="3666827"/>
            <a:ext cx="805735" cy="1007269"/>
          </a:xfrm>
          <a:prstGeom prst="line">
            <a:avLst/>
          </a:prstGeom>
          <a:solidFill>
            <a:srgbClr val="9BE1FF"/>
          </a:solidFill>
          <a:ln w="25400">
            <a:solidFill>
              <a:srgbClr val="3F3F3F"/>
            </a:solidFill>
            <a:prstDash val="solid"/>
          </a:ln>
        </p:spPr>
      </p:sp>
      <p:sp>
        <p:nvSpPr>
          <p:cNvPr id="15" name="Shape 12"/>
          <p:cNvSpPr/>
          <p:nvPr/>
        </p:nvSpPr>
        <p:spPr>
          <a:xfrm>
            <a:off x="1415320" y="3666827"/>
            <a:ext cx="2014487" cy="1007269"/>
          </a:xfrm>
          <a:prstGeom prst="line">
            <a:avLst/>
          </a:prstGeom>
          <a:solidFill>
            <a:srgbClr val="9BE1FF"/>
          </a:solidFill>
          <a:ln w="25400">
            <a:solidFill>
              <a:srgbClr val="3F3F3F"/>
            </a:solidFill>
            <a:prstDash val="solid"/>
          </a:ln>
        </p:spPr>
      </p:sp>
      <p:sp>
        <p:nvSpPr>
          <p:cNvPr id="16" name="Shape 13"/>
          <p:cNvSpPr/>
          <p:nvPr/>
        </p:nvSpPr>
        <p:spPr>
          <a:xfrm>
            <a:off x="1093066" y="3344565"/>
            <a:ext cx="644608" cy="644624"/>
          </a:xfrm>
          <a:prstGeom prst="ellipse">
            <a:avLst/>
          </a:prstGeom>
          <a:solidFill>
            <a:srgbClr val="241B55"/>
          </a:solidFill>
          <a:ln/>
        </p:spPr>
      </p:sp>
      <p:sp>
        <p:nvSpPr>
          <p:cNvPr id="17" name="Shape 14"/>
          <p:cNvSpPr/>
          <p:nvPr/>
        </p:nvSpPr>
        <p:spPr>
          <a:xfrm>
            <a:off x="1898900" y="4351834"/>
            <a:ext cx="644608" cy="644624"/>
          </a:xfrm>
          <a:prstGeom prst="ellipse">
            <a:avLst/>
          </a:prstGeom>
          <a:solidFill>
            <a:srgbClr val="9BE1FF"/>
          </a:solidFill>
          <a:ln/>
        </p:spPr>
      </p:sp>
      <p:sp>
        <p:nvSpPr>
          <p:cNvPr id="18" name="Shape 15"/>
          <p:cNvSpPr/>
          <p:nvPr/>
        </p:nvSpPr>
        <p:spPr>
          <a:xfrm>
            <a:off x="3107652" y="3344565"/>
            <a:ext cx="644608" cy="644624"/>
          </a:xfrm>
          <a:prstGeom prst="ellipse">
            <a:avLst/>
          </a:prstGeom>
          <a:solidFill>
            <a:srgbClr val="07303A"/>
          </a:solidFill>
          <a:ln/>
        </p:spPr>
      </p:sp>
      <p:sp>
        <p:nvSpPr>
          <p:cNvPr id="19" name="Shape 16"/>
          <p:cNvSpPr/>
          <p:nvPr/>
        </p:nvSpPr>
        <p:spPr>
          <a:xfrm>
            <a:off x="3107652" y="4351834"/>
            <a:ext cx="644608" cy="644624"/>
          </a:xfrm>
          <a:prstGeom prst="ellipse">
            <a:avLst/>
          </a:prstGeom>
          <a:solidFill>
            <a:srgbClr val="241B55"/>
          </a:solidFill>
          <a:ln/>
        </p:spPr>
      </p:sp>
      <p:sp>
        <p:nvSpPr>
          <p:cNvPr id="20" name="Text 17"/>
          <p:cNvSpPr/>
          <p:nvPr/>
        </p:nvSpPr>
        <p:spPr>
          <a:xfrm>
            <a:off x="833516" y="3545979"/>
            <a:ext cx="1163708" cy="257373"/>
          </a:xfrm>
          <a:prstGeom prst="rect">
            <a:avLst/>
          </a:prstGeom>
          <a:noFill/>
          <a:ln/>
        </p:spPr>
        <p:txBody>
          <a:bodyPr wrap="none" lIns="0" tIns="0" rIns="0" bIns="0" rtlCol="0" anchor="t"/>
          <a:lstStyle/>
          <a:p>
            <a:pPr algn="ctr" indent="0" marL="0">
              <a:lnSpc>
                <a:spcPct val="118000"/>
              </a:lnSpc>
              <a:buNone/>
            </a:pPr>
            <a:r>
              <a:rPr lang="en-US" sz="1450" dirty="0">
                <a:solidFill>
                  <a:srgbClr val="D5D5D5"/>
                </a:solidFill>
                <a:latin typeface="Exo" pitchFamily="34" charset="0"/>
                <a:ea typeface="Exo" pitchFamily="34" charset="-122"/>
                <a:cs typeface="Exo" pitchFamily="34" charset="-120"/>
              </a:rPr>
              <a:t>A</a:t>
            </a:r>
            <a:endParaRPr lang="en-US" sz="1450" dirty="0"/>
          </a:p>
        </p:txBody>
      </p:sp>
      <p:sp>
        <p:nvSpPr>
          <p:cNvPr id="21" name="Text 18"/>
          <p:cNvSpPr/>
          <p:nvPr/>
        </p:nvSpPr>
        <p:spPr>
          <a:xfrm>
            <a:off x="1639350" y="4553347"/>
            <a:ext cx="1163708" cy="257373"/>
          </a:xfrm>
          <a:prstGeom prst="rect">
            <a:avLst/>
          </a:prstGeom>
          <a:noFill/>
          <a:ln/>
        </p:spPr>
        <p:txBody>
          <a:bodyPr wrap="none" lIns="0" tIns="0" rIns="0" bIns="0" rtlCol="0" anchor="t"/>
          <a:lstStyle/>
          <a:p>
            <a:pPr algn="ctr" indent="0" marL="0">
              <a:lnSpc>
                <a:spcPct val="118000"/>
              </a:lnSpc>
              <a:buNone/>
            </a:pPr>
            <a:r>
              <a:rPr lang="en-US" sz="1450" dirty="0">
                <a:solidFill>
                  <a:srgbClr val="D5D5D5"/>
                </a:solidFill>
                <a:latin typeface="Exo" pitchFamily="34" charset="0"/>
                <a:ea typeface="Exo" pitchFamily="34" charset="-122"/>
                <a:cs typeface="Exo" pitchFamily="34" charset="-120"/>
              </a:rPr>
              <a:t>C</a:t>
            </a:r>
            <a:endParaRPr lang="en-US" sz="1450" dirty="0"/>
          </a:p>
        </p:txBody>
      </p:sp>
      <p:sp>
        <p:nvSpPr>
          <p:cNvPr id="22" name="Text 19"/>
          <p:cNvSpPr/>
          <p:nvPr/>
        </p:nvSpPr>
        <p:spPr>
          <a:xfrm>
            <a:off x="2848102" y="3545979"/>
            <a:ext cx="1163708" cy="257373"/>
          </a:xfrm>
          <a:prstGeom prst="rect">
            <a:avLst/>
          </a:prstGeom>
          <a:noFill/>
          <a:ln/>
        </p:spPr>
        <p:txBody>
          <a:bodyPr wrap="none" lIns="0" tIns="0" rIns="0" bIns="0" rtlCol="0" anchor="t"/>
          <a:lstStyle/>
          <a:p>
            <a:pPr algn="ctr" indent="0" marL="0">
              <a:lnSpc>
                <a:spcPct val="118000"/>
              </a:lnSpc>
              <a:buNone/>
            </a:pPr>
            <a:r>
              <a:rPr lang="en-US" sz="1450" dirty="0">
                <a:solidFill>
                  <a:srgbClr val="D5D5D5"/>
                </a:solidFill>
                <a:latin typeface="Exo" pitchFamily="34" charset="0"/>
                <a:ea typeface="Exo" pitchFamily="34" charset="-122"/>
                <a:cs typeface="Exo" pitchFamily="34" charset="-120"/>
              </a:rPr>
              <a:t>B</a:t>
            </a:r>
            <a:endParaRPr lang="en-US" sz="1450" dirty="0"/>
          </a:p>
        </p:txBody>
      </p:sp>
      <p:sp>
        <p:nvSpPr>
          <p:cNvPr id="23" name="Text 20"/>
          <p:cNvSpPr/>
          <p:nvPr/>
        </p:nvSpPr>
        <p:spPr>
          <a:xfrm>
            <a:off x="2848102" y="4553347"/>
            <a:ext cx="1163708" cy="257373"/>
          </a:xfrm>
          <a:prstGeom prst="rect">
            <a:avLst/>
          </a:prstGeom>
          <a:noFill/>
          <a:ln/>
        </p:spPr>
        <p:txBody>
          <a:bodyPr wrap="none" lIns="0" tIns="0" rIns="0" bIns="0" rtlCol="0" anchor="t"/>
          <a:lstStyle/>
          <a:p>
            <a:pPr algn="ctr" indent="0" marL="0">
              <a:lnSpc>
                <a:spcPct val="118000"/>
              </a:lnSpc>
              <a:buNone/>
            </a:pPr>
            <a:r>
              <a:rPr lang="en-US" sz="1450" dirty="0">
                <a:solidFill>
                  <a:srgbClr val="D5D5D5"/>
                </a:solidFill>
                <a:latin typeface="Exo" pitchFamily="34" charset="0"/>
                <a:ea typeface="Exo" pitchFamily="34" charset="-122"/>
                <a:cs typeface="Exo" pitchFamily="34" charset="-120"/>
              </a:rPr>
              <a:t>D</a:t>
            </a:r>
            <a:endParaRPr lang="en-US" sz="1450" dirty="0"/>
          </a:p>
        </p:txBody>
      </p:sp>
      <p:sp>
        <p:nvSpPr>
          <p:cNvPr id="24" name="Text 21"/>
          <p:cNvSpPr/>
          <p:nvPr/>
        </p:nvSpPr>
        <p:spPr>
          <a:xfrm>
            <a:off x="1843339" y="3346089"/>
            <a:ext cx="942158" cy="184348"/>
          </a:xfrm>
          <a:prstGeom prst="rect">
            <a:avLst/>
          </a:prstGeom>
          <a:noFill/>
          <a:ln/>
        </p:spPr>
        <p:txBody>
          <a:bodyPr wrap="none" lIns="0" tIns="0" rIns="0" bIns="0" rtlCol="0" anchor="t"/>
          <a:lstStyle/>
          <a:p>
            <a:pPr algn="l" indent="0" marL="0">
              <a:lnSpc>
                <a:spcPct val="110000"/>
              </a:lnSpc>
              <a:buNone/>
            </a:pPr>
            <a:r>
              <a:rPr lang="en-US" sz="1100" spc="11" kern="100" dirty="0">
                <a:solidFill>
                  <a:srgbClr val="9D9D9D"/>
                </a:solidFill>
                <a:latin typeface="Exo" pitchFamily="34" charset="0"/>
                <a:ea typeface="Exo" pitchFamily="34" charset="-122"/>
                <a:cs typeface="Exo" pitchFamily="34" charset="-120"/>
              </a:rPr>
              <a:t>1</a:t>
            </a:r>
            <a:endParaRPr lang="en-US" sz="1100" dirty="0"/>
          </a:p>
        </p:txBody>
      </p:sp>
      <p:sp>
        <p:nvSpPr>
          <p:cNvPr id="25" name="Text 22"/>
          <p:cNvSpPr/>
          <p:nvPr/>
        </p:nvSpPr>
        <p:spPr>
          <a:xfrm>
            <a:off x="2629033" y="3487079"/>
            <a:ext cx="942158" cy="184348"/>
          </a:xfrm>
          <a:prstGeom prst="rect">
            <a:avLst/>
          </a:prstGeom>
          <a:noFill/>
          <a:ln/>
        </p:spPr>
        <p:txBody>
          <a:bodyPr wrap="none" lIns="0" tIns="0" rIns="0" bIns="0" rtlCol="0" anchor="t"/>
          <a:lstStyle/>
          <a:p>
            <a:pPr algn="l" indent="0" marL="0">
              <a:lnSpc>
                <a:spcPct val="110000"/>
              </a:lnSpc>
              <a:buNone/>
            </a:pPr>
            <a:r>
              <a:rPr lang="en-US" sz="1100" spc="11" kern="100" dirty="0">
                <a:solidFill>
                  <a:srgbClr val="9D9D9D"/>
                </a:solidFill>
                <a:latin typeface="Exo" pitchFamily="34" charset="0"/>
                <a:ea typeface="Exo" pitchFamily="34" charset="-122"/>
                <a:cs typeface="Exo" pitchFamily="34" charset="-120"/>
              </a:rPr>
              <a:t>2</a:t>
            </a:r>
            <a:endParaRPr lang="en-US" sz="1100" dirty="0"/>
          </a:p>
        </p:txBody>
      </p:sp>
      <p:sp>
        <p:nvSpPr>
          <p:cNvPr id="26" name="Text 23"/>
          <p:cNvSpPr/>
          <p:nvPr/>
        </p:nvSpPr>
        <p:spPr>
          <a:xfrm>
            <a:off x="2629033" y="4575012"/>
            <a:ext cx="942158" cy="184348"/>
          </a:xfrm>
          <a:prstGeom prst="rect">
            <a:avLst/>
          </a:prstGeom>
          <a:noFill/>
          <a:ln/>
        </p:spPr>
        <p:txBody>
          <a:bodyPr wrap="none" lIns="0" tIns="0" rIns="0" bIns="0" rtlCol="0" anchor="t"/>
          <a:lstStyle/>
          <a:p>
            <a:pPr algn="l" indent="0" marL="0">
              <a:lnSpc>
                <a:spcPct val="110000"/>
              </a:lnSpc>
              <a:buNone/>
            </a:pPr>
            <a:r>
              <a:rPr lang="en-US" sz="1100" spc="11" kern="100" dirty="0">
                <a:solidFill>
                  <a:srgbClr val="9D9D9D"/>
                </a:solidFill>
                <a:latin typeface="Exo" pitchFamily="34" charset="0"/>
                <a:ea typeface="Exo" pitchFamily="34" charset="-122"/>
                <a:cs typeface="Exo" pitchFamily="34" charset="-120"/>
              </a:rPr>
              <a:t>2</a:t>
            </a:r>
            <a:endParaRPr lang="en-US" sz="1100" dirty="0"/>
          </a:p>
        </p:txBody>
      </p:sp>
      <p:sp>
        <p:nvSpPr>
          <p:cNvPr id="27" name="Text 24"/>
          <p:cNvSpPr/>
          <p:nvPr/>
        </p:nvSpPr>
        <p:spPr>
          <a:xfrm>
            <a:off x="3575953" y="4091420"/>
            <a:ext cx="942158" cy="184348"/>
          </a:xfrm>
          <a:prstGeom prst="rect">
            <a:avLst/>
          </a:prstGeom>
          <a:noFill/>
          <a:ln/>
        </p:spPr>
        <p:txBody>
          <a:bodyPr wrap="none" lIns="0" tIns="0" rIns="0" bIns="0" rtlCol="0" anchor="t"/>
          <a:lstStyle/>
          <a:p>
            <a:pPr algn="l" indent="0" marL="0">
              <a:lnSpc>
                <a:spcPct val="110000"/>
              </a:lnSpc>
              <a:buNone/>
            </a:pPr>
            <a:r>
              <a:rPr lang="en-US" sz="1100" spc="11" kern="100" dirty="0">
                <a:solidFill>
                  <a:srgbClr val="9D9D9D"/>
                </a:solidFill>
                <a:latin typeface="Exo" pitchFamily="34" charset="0"/>
                <a:ea typeface="Exo" pitchFamily="34" charset="-122"/>
                <a:cs typeface="Exo" pitchFamily="34" charset="-120"/>
              </a:rPr>
              <a:t>1</a:t>
            </a:r>
            <a:endParaRPr lang="en-US" sz="1100" dirty="0"/>
          </a:p>
        </p:txBody>
      </p:sp>
      <p:sp>
        <p:nvSpPr>
          <p:cNvPr id="28" name="Text 25"/>
          <p:cNvSpPr/>
          <p:nvPr/>
        </p:nvSpPr>
        <p:spPr>
          <a:xfrm>
            <a:off x="2407483" y="3910147"/>
            <a:ext cx="942158" cy="184348"/>
          </a:xfrm>
          <a:prstGeom prst="rect">
            <a:avLst/>
          </a:prstGeom>
          <a:noFill/>
          <a:ln/>
        </p:spPr>
        <p:txBody>
          <a:bodyPr wrap="none" lIns="0" tIns="0" rIns="0" bIns="0" rtlCol="0" anchor="t"/>
          <a:lstStyle/>
          <a:p>
            <a:pPr algn="l" indent="0" marL="0">
              <a:lnSpc>
                <a:spcPct val="110000"/>
              </a:lnSpc>
              <a:buNone/>
            </a:pPr>
            <a:r>
              <a:rPr lang="en-US" sz="1100" spc="11" kern="100" dirty="0">
                <a:solidFill>
                  <a:srgbClr val="9D9D9D"/>
                </a:solidFill>
                <a:latin typeface="Exo" pitchFamily="34" charset="0"/>
                <a:ea typeface="Exo" pitchFamily="34" charset="-122"/>
                <a:cs typeface="Exo" pitchFamily="34" charset="-120"/>
              </a:rPr>
              <a:t>5</a:t>
            </a:r>
            <a:endParaRPr lang="en-US" sz="1100" dirty="0"/>
          </a:p>
        </p:txBody>
      </p:sp>
      <p:sp>
        <p:nvSpPr>
          <p:cNvPr id="29" name="Text 26"/>
          <p:cNvSpPr/>
          <p:nvPr/>
        </p:nvSpPr>
        <p:spPr>
          <a:xfrm>
            <a:off x="2387342" y="2984143"/>
            <a:ext cx="1017463" cy="363141"/>
          </a:xfrm>
          <a:prstGeom prst="rect">
            <a:avLst/>
          </a:prstGeom>
          <a:noFill/>
          <a:ln/>
        </p:spPr>
        <p:txBody>
          <a:bodyPr wrap="square" lIns="0" tIns="0" rIns="0" bIns="0" rtlCol="0" anchor="t">
            <a:normAutofit/>
          </a:bodyPr>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FINAL ROUTE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11822"/>
            <a:ext cx="6235544"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IMPLEMENTATION LOGIC</a:t>
            </a:r>
            <a:endParaRPr lang="en-US" sz="1100" dirty="0"/>
          </a:p>
        </p:txBody>
      </p:sp>
      <p:sp>
        <p:nvSpPr>
          <p:cNvPr id="3" name="Text 1"/>
          <p:cNvSpPr/>
          <p:nvPr/>
        </p:nvSpPr>
        <p:spPr>
          <a:xfrm>
            <a:off x="609585" y="904042"/>
            <a:ext cx="5625959" cy="951111"/>
          </a:xfrm>
          <a:prstGeom prst="rect">
            <a:avLst/>
          </a:prstGeom>
          <a:noFill/>
          <a:ln/>
        </p:spPr>
        <p:txBody>
          <a:bodyPr wrap="square" lIns="0" tIns="0" rIns="0" bIns="0" rtlCol="0" anchor="t">
            <a:normAutofit/>
          </a:bodyPr>
          <a:lstStyle/>
          <a:p>
            <a:pPr algn="l" indent="0" marL="0">
              <a:lnSpc>
                <a:spcPct val="89000"/>
              </a:lnSpc>
              <a:buNone/>
            </a:pPr>
            <a:r>
              <a:rPr lang="en-US" sz="3500" spc="-42" kern="100" dirty="0">
                <a:solidFill>
                  <a:srgbClr val="ECECEC"/>
                </a:solidFill>
                <a:latin typeface="Exo SemiBold" pitchFamily="34" charset="0"/>
                <a:ea typeface="Exo SemiBold" pitchFamily="34" charset="-122"/>
                <a:cs typeface="Exo SemiBold" pitchFamily="34" charset="-120"/>
              </a:rPr>
              <a:t>Pseudocode makes the greedy loop explicit</a:t>
            </a:r>
            <a:endParaRPr lang="en-US" sz="3500" dirty="0"/>
          </a:p>
        </p:txBody>
      </p:sp>
      <p:sp>
        <p:nvSpPr>
          <p:cNvPr id="4" name="Shape 2"/>
          <p:cNvSpPr/>
          <p:nvPr/>
        </p:nvSpPr>
        <p:spPr>
          <a:xfrm>
            <a:off x="609585" y="2064544"/>
            <a:ext cx="1406490" cy="31651"/>
          </a:xfrm>
          <a:prstGeom prst="roundRect">
            <a:avLst>
              <a:gd name="adj" fmla="val 49998"/>
            </a:avLst>
          </a:prstGeom>
          <a:solidFill>
            <a:srgbClr val="9BE1FF"/>
          </a:solidFill>
          <a:ln/>
        </p:spPr>
      </p:sp>
      <p:sp>
        <p:nvSpPr>
          <p:cNvPr id="5" name="Text 3"/>
          <p:cNvSpPr/>
          <p:nvPr/>
        </p:nvSpPr>
        <p:spPr>
          <a:xfrm>
            <a:off x="609585" y="2320131"/>
            <a:ext cx="5625959"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Readable pseudocode highlights initialization, minimum-distance selection, relaxation, and route reconstruction.</a:t>
            </a:r>
            <a:endParaRPr lang="en-US" sz="1500" dirty="0"/>
          </a:p>
        </p:txBody>
      </p:sp>
      <p:sp>
        <p:nvSpPr>
          <p:cNvPr id="6" name="Text 4"/>
          <p:cNvSpPr/>
          <p:nvPr/>
        </p:nvSpPr>
        <p:spPr>
          <a:xfrm>
            <a:off x="609585" y="3072705"/>
            <a:ext cx="803553" cy="190500"/>
          </a:xfrm>
          <a:prstGeom prst="rect">
            <a:avLst/>
          </a:prstGeom>
          <a:noFill/>
          <a:ln/>
        </p:spPr>
        <p:txBody>
          <a:bodyPr wrap="none" lIns="0" tIns="0" rIns="0" bIns="0" rtlCol="0" anchor="t"/>
          <a:lstStyle/>
          <a:p>
            <a:pPr algn="l" indent="0" marL="0">
              <a:lnSpc>
                <a:spcPct val="83000"/>
              </a:lnSpc>
              <a:buNone/>
            </a:pPr>
            <a:r>
              <a:rPr lang="en-US" sz="1500" dirty="0">
                <a:solidFill>
                  <a:srgbClr val="E8E8E8"/>
                </a:solidFill>
                <a:latin typeface="Exo Medium" pitchFamily="34" charset="0"/>
                <a:ea typeface="Exo Medium" pitchFamily="34" charset="-122"/>
                <a:cs typeface="Exo Medium" pitchFamily="34" charset="-120"/>
              </a:rPr>
              <a:t>01</a:t>
            </a:r>
            <a:endParaRPr lang="en-US" sz="1500" dirty="0"/>
          </a:p>
        </p:txBody>
      </p:sp>
      <p:sp>
        <p:nvSpPr>
          <p:cNvPr id="7" name="Text 5"/>
          <p:cNvSpPr/>
          <p:nvPr/>
        </p:nvSpPr>
        <p:spPr>
          <a:xfrm>
            <a:off x="981348" y="3040205"/>
            <a:ext cx="5254196" cy="318492"/>
          </a:xfrm>
          <a:prstGeom prst="rect">
            <a:avLst/>
          </a:prstGeom>
          <a:noFill/>
          <a:ln/>
        </p:spPr>
        <p:txBody>
          <a:bodyPr wrap="none" lIns="0" tIns="0" rIns="0" bIns="0" rtlCol="0" anchor="t"/>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Initialize</a:t>
            </a:r>
            <a:endParaRPr lang="en-US" sz="1900" dirty="0"/>
          </a:p>
        </p:txBody>
      </p:sp>
      <p:sp>
        <p:nvSpPr>
          <p:cNvPr id="8" name="Text 6"/>
          <p:cNvSpPr/>
          <p:nvPr/>
        </p:nvSpPr>
        <p:spPr>
          <a:xfrm>
            <a:off x="981348" y="3500239"/>
            <a:ext cx="5254196" cy="270470"/>
          </a:xfrm>
          <a:prstGeom prst="rect">
            <a:avLst/>
          </a:prstGeom>
          <a:noFill/>
          <a:ln/>
        </p:spPr>
        <p:txBody>
          <a:bodyPr wrap="none" lIns="0" tIns="0" rIns="0" bIns="0" rtlCol="0" anchor="t"/>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dist[source] = 0; all other distances = ∞.</a:t>
            </a:r>
            <a:endParaRPr lang="en-US" sz="1500" dirty="0"/>
          </a:p>
        </p:txBody>
      </p:sp>
      <p:sp>
        <p:nvSpPr>
          <p:cNvPr id="9" name="Text 7"/>
          <p:cNvSpPr/>
          <p:nvPr/>
        </p:nvSpPr>
        <p:spPr>
          <a:xfrm>
            <a:off x="609585" y="4170859"/>
            <a:ext cx="846612" cy="190500"/>
          </a:xfrm>
          <a:prstGeom prst="rect">
            <a:avLst/>
          </a:prstGeom>
          <a:noFill/>
          <a:ln/>
        </p:spPr>
        <p:txBody>
          <a:bodyPr wrap="none" lIns="0" tIns="0" rIns="0" bIns="0" rtlCol="0" anchor="t"/>
          <a:lstStyle/>
          <a:p>
            <a:pPr algn="l" indent="0" marL="0">
              <a:lnSpc>
                <a:spcPct val="83000"/>
              </a:lnSpc>
              <a:buNone/>
            </a:pPr>
            <a:r>
              <a:rPr lang="en-US" sz="1500" dirty="0">
                <a:solidFill>
                  <a:srgbClr val="E8E8E8"/>
                </a:solidFill>
                <a:latin typeface="Exo Medium" pitchFamily="34" charset="0"/>
                <a:ea typeface="Exo Medium" pitchFamily="34" charset="-122"/>
                <a:cs typeface="Exo Medium" pitchFamily="34" charset="-120"/>
              </a:rPr>
              <a:t>02</a:t>
            </a:r>
            <a:endParaRPr lang="en-US" sz="1500" dirty="0"/>
          </a:p>
        </p:txBody>
      </p:sp>
      <p:sp>
        <p:nvSpPr>
          <p:cNvPr id="10" name="Text 8"/>
          <p:cNvSpPr/>
          <p:nvPr/>
        </p:nvSpPr>
        <p:spPr>
          <a:xfrm>
            <a:off x="1024408" y="4138359"/>
            <a:ext cx="5211136" cy="318492"/>
          </a:xfrm>
          <a:prstGeom prst="rect">
            <a:avLst/>
          </a:prstGeom>
          <a:noFill/>
          <a:ln/>
        </p:spPr>
        <p:txBody>
          <a:bodyPr wrap="none" lIns="0" tIns="0" rIns="0" bIns="0" rtlCol="0" anchor="t"/>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Extract</a:t>
            </a:r>
            <a:endParaRPr lang="en-US" sz="1900" dirty="0"/>
          </a:p>
        </p:txBody>
      </p:sp>
      <p:sp>
        <p:nvSpPr>
          <p:cNvPr id="11" name="Text 9"/>
          <p:cNvSpPr/>
          <p:nvPr/>
        </p:nvSpPr>
        <p:spPr>
          <a:xfrm>
            <a:off x="1024408" y="4598392"/>
            <a:ext cx="5211136" cy="270470"/>
          </a:xfrm>
          <a:prstGeom prst="rect">
            <a:avLst/>
          </a:prstGeom>
          <a:noFill/>
          <a:ln/>
        </p:spPr>
        <p:txBody>
          <a:bodyPr wrap="none" lIns="0" tIns="0" rIns="0" bIns="0" rtlCol="0" anchor="t"/>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Choose unvisited u with minimum dist[u].</a:t>
            </a:r>
            <a:endParaRPr lang="en-US" sz="1500" dirty="0"/>
          </a:p>
        </p:txBody>
      </p:sp>
      <p:sp>
        <p:nvSpPr>
          <p:cNvPr id="12" name="Text 10"/>
          <p:cNvSpPr/>
          <p:nvPr/>
        </p:nvSpPr>
        <p:spPr>
          <a:xfrm>
            <a:off x="609585" y="5269111"/>
            <a:ext cx="845124" cy="190500"/>
          </a:xfrm>
          <a:prstGeom prst="rect">
            <a:avLst/>
          </a:prstGeom>
          <a:noFill/>
          <a:ln/>
        </p:spPr>
        <p:txBody>
          <a:bodyPr wrap="none" lIns="0" tIns="0" rIns="0" bIns="0" rtlCol="0" anchor="t"/>
          <a:lstStyle/>
          <a:p>
            <a:pPr algn="l" indent="0" marL="0">
              <a:lnSpc>
                <a:spcPct val="83000"/>
              </a:lnSpc>
              <a:buNone/>
            </a:pPr>
            <a:r>
              <a:rPr lang="en-US" sz="1500" dirty="0">
                <a:solidFill>
                  <a:srgbClr val="E8E8E8"/>
                </a:solidFill>
                <a:latin typeface="Exo Medium" pitchFamily="34" charset="0"/>
                <a:ea typeface="Exo Medium" pitchFamily="34" charset="-122"/>
                <a:cs typeface="Exo Medium" pitchFamily="34" charset="-120"/>
              </a:rPr>
              <a:t>03</a:t>
            </a:r>
            <a:endParaRPr lang="en-US" sz="1500" dirty="0"/>
          </a:p>
        </p:txBody>
      </p:sp>
      <p:sp>
        <p:nvSpPr>
          <p:cNvPr id="13" name="Text 11"/>
          <p:cNvSpPr/>
          <p:nvPr/>
        </p:nvSpPr>
        <p:spPr>
          <a:xfrm>
            <a:off x="1022920" y="5236611"/>
            <a:ext cx="5212624" cy="318492"/>
          </a:xfrm>
          <a:prstGeom prst="rect">
            <a:avLst/>
          </a:prstGeom>
          <a:noFill/>
          <a:ln/>
        </p:spPr>
        <p:txBody>
          <a:bodyPr wrap="none" lIns="0" tIns="0" rIns="0" bIns="0" rtlCol="0" anchor="t"/>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Relax &amp; remember</a:t>
            </a:r>
            <a:endParaRPr lang="en-US" sz="1900" dirty="0"/>
          </a:p>
        </p:txBody>
      </p:sp>
      <p:sp>
        <p:nvSpPr>
          <p:cNvPr id="14" name="Text 12"/>
          <p:cNvSpPr/>
          <p:nvPr/>
        </p:nvSpPr>
        <p:spPr>
          <a:xfrm>
            <a:off x="1022920" y="5696645"/>
            <a:ext cx="5212624"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If dist[u] + weight(u,v) improves dist[v], update dist[v] and store predecessor[v].</a:t>
            </a:r>
            <a:endParaRPr lang="en-US" sz="1500" dirty="0"/>
          </a:p>
        </p:txBody>
      </p:sp>
      <p:sp>
        <p:nvSpPr>
          <p:cNvPr id="15" name="Shape 13"/>
          <p:cNvSpPr/>
          <p:nvPr/>
        </p:nvSpPr>
        <p:spPr>
          <a:xfrm>
            <a:off x="7302317" y="0"/>
            <a:ext cx="4889378" cy="6858000"/>
          </a:xfrm>
          <a:prstGeom prst="rect">
            <a:avLst/>
          </a:prstGeom>
          <a:solidFill>
            <a:srgbClr val="0E1F40"/>
          </a:solidFill>
          <a:ln/>
        </p:spPr>
      </p:sp>
      <p:sp>
        <p:nvSpPr>
          <p:cNvPr id="16" name="Text 14"/>
          <p:cNvSpPr/>
          <p:nvPr/>
        </p:nvSpPr>
        <p:spPr>
          <a:xfrm>
            <a:off x="7657908" y="357822"/>
            <a:ext cx="4533787"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D5D5D5"/>
                </a:solidFill>
                <a:latin typeface="Fira Mono Medium" pitchFamily="34" charset="0"/>
                <a:ea typeface="Fira Mono Medium" pitchFamily="34" charset="-122"/>
                <a:cs typeface="Fira Mono Medium" pitchFamily="34" charset="-120"/>
              </a:rPr>
              <a:t>PSEUDOCODE</a:t>
            </a:r>
            <a:endParaRPr lang="en-US" sz="1100" dirty="0"/>
          </a:p>
        </p:txBody>
      </p:sp>
      <p:sp>
        <p:nvSpPr>
          <p:cNvPr id="17" name="Shape 15"/>
          <p:cNvSpPr/>
          <p:nvPr/>
        </p:nvSpPr>
        <p:spPr>
          <a:xfrm>
            <a:off x="7657908" y="751483"/>
            <a:ext cx="4178195" cy="4648200"/>
          </a:xfrm>
          <a:prstGeom prst="roundRect">
            <a:avLst>
              <a:gd name="adj" fmla="val 274"/>
            </a:avLst>
          </a:prstGeom>
          <a:solidFill>
            <a:srgbClr val="0E1F40"/>
          </a:solidFill>
          <a:ln/>
        </p:spPr>
      </p:sp>
      <p:sp>
        <p:nvSpPr>
          <p:cNvPr id="18" name="Text 16"/>
          <p:cNvSpPr/>
          <p:nvPr/>
        </p:nvSpPr>
        <p:spPr>
          <a:xfrm>
            <a:off x="7886503" y="941983"/>
            <a:ext cx="3721007" cy="4267200"/>
          </a:xfrm>
          <a:prstGeom prst="rect">
            <a:avLst/>
          </a:prstGeom>
          <a:noFill/>
          <a:ln/>
        </p:spPr>
        <p:txBody>
          <a:bodyPr wrap="square" lIns="0" tIns="0" rIns="0" bIns="0" rtlCol="0" anchor="t">
            <a:normAutofit/>
          </a:bodyPr>
          <a:lstStyle/>
          <a:p>
            <a:pPr algn="l" indent="0" marL="0">
              <a:lnSpc>
                <a:spcPct val="133000"/>
              </a:lnSpc>
              <a:buNone/>
            </a:pPr>
            <a:r>
              <a:rPr lang="en-US" sz="1500" dirty="0">
                <a:solidFill>
                  <a:srgbClr val="E6EDF3"/>
                </a:solidFill>
                <a:latin typeface="Consolas" pitchFamily="34" charset="0"/>
                <a:ea typeface="Consolas" pitchFamily="34" charset="-122"/>
                <a:cs typeface="Consolas" pitchFamily="34" charset="-120"/>
              </a:rPr>
              <a:t>dist[source] ← 0</a:t>
            </a:r>
            <a:endParaRPr lang="en-US" sz="1500" dirty="0"/>
          </a:p>
          <a:p>
            <a:pPr algn="l" indent="0" marL="0">
              <a:lnSpc>
                <a:spcPct val="133000"/>
              </a:lnSpc>
              <a:buNone/>
            </a:pPr>
            <a:r>
              <a:rPr lang="en-US" sz="1500" dirty="0">
                <a:solidFill>
                  <a:srgbClr val="E6EDF3"/>
                </a:solidFill>
                <a:latin typeface="Consolas" pitchFamily="34" charset="0"/>
                <a:ea typeface="Consolas" pitchFamily="34" charset="-122"/>
                <a:cs typeface="Consolas" pitchFamily="34" charset="-120"/>
              </a:rPr>
              <a:t>for each vertex v:</a:t>
            </a:r>
            <a:endParaRPr lang="en-US" sz="1500" dirty="0"/>
          </a:p>
          <a:p>
            <a:pPr algn="l" indent="0" marL="0">
              <a:lnSpc>
                <a:spcPct val="133000"/>
              </a:lnSpc>
              <a:buNone/>
            </a:pPr>
            <a:r>
              <a:rPr lang="en-US" sz="1500" dirty="0">
                <a:solidFill>
                  <a:srgbClr val="E6EDF3"/>
                </a:solidFill>
                <a:latin typeface="Consolas" pitchFamily="34" charset="0"/>
                <a:ea typeface="Consolas" pitchFamily="34" charset="-122"/>
                <a:cs typeface="Consolas" pitchFamily="34" charset="-120"/>
              </a:rPr>
              <a:t>    if v ≠ source: dist[v] ← ∞</a:t>
            </a:r>
            <a:endParaRPr lang="en-US" sz="1500" dirty="0"/>
          </a:p>
          <a:p>
            <a:pPr algn="l" indent="0" marL="0">
              <a:lnSpc>
                <a:spcPct val="133000"/>
              </a:lnSpc>
              <a:buNone/>
            </a:pPr>
            <a:endParaRPr lang="en-US" sz="1500" dirty="0"/>
          </a:p>
          <a:p>
            <a:pPr algn="l" indent="0" marL="0">
              <a:lnSpc>
                <a:spcPct val="133000"/>
              </a:lnSpc>
              <a:buNone/>
            </a:pPr>
            <a:r>
              <a:rPr lang="en-US" sz="1500" dirty="0">
                <a:solidFill>
                  <a:srgbClr val="E6EDF3"/>
                </a:solidFill>
                <a:latin typeface="Consolas" pitchFamily="34" charset="0"/>
                <a:ea typeface="Consolas" pitchFamily="34" charset="-122"/>
                <a:cs typeface="Consolas" pitchFamily="34" charset="-120"/>
              </a:rPr>
              <a:t>while unvisited vertices remain:</a:t>
            </a:r>
            <a:endParaRPr lang="en-US" sz="1500" dirty="0"/>
          </a:p>
          <a:p>
            <a:pPr algn="l" indent="0" marL="0">
              <a:lnSpc>
                <a:spcPct val="133000"/>
              </a:lnSpc>
              <a:buNone/>
            </a:pPr>
            <a:r>
              <a:rPr lang="en-US" sz="1500" dirty="0">
                <a:solidFill>
                  <a:srgbClr val="E6EDF3"/>
                </a:solidFill>
                <a:latin typeface="Consolas" pitchFamily="34" charset="0"/>
                <a:ea typeface="Consolas" pitchFamily="34" charset="-122"/>
                <a:cs typeface="Consolas" pitchFamily="34" charset="-120"/>
              </a:rPr>
              <a:t>    u ← unvisited vertex with minimum dist[u]</a:t>
            </a:r>
            <a:endParaRPr lang="en-US" sz="1500" dirty="0"/>
          </a:p>
          <a:p>
            <a:pPr algn="l" indent="0" marL="0">
              <a:lnSpc>
                <a:spcPct val="133000"/>
              </a:lnSpc>
              <a:buNone/>
            </a:pPr>
            <a:r>
              <a:rPr lang="en-US" sz="1500" dirty="0">
                <a:solidFill>
                  <a:srgbClr val="E6EDF3"/>
                </a:solidFill>
                <a:latin typeface="Consolas" pitchFamily="34" charset="0"/>
                <a:ea typeface="Consolas" pitchFamily="34" charset="-122"/>
                <a:cs typeface="Consolas" pitchFamily="34" charset="-120"/>
              </a:rPr>
              <a:t>    mark u visited</a:t>
            </a:r>
            <a:endParaRPr lang="en-US" sz="1500" dirty="0"/>
          </a:p>
          <a:p>
            <a:pPr algn="l" indent="0" marL="0">
              <a:lnSpc>
                <a:spcPct val="133000"/>
              </a:lnSpc>
              <a:buNone/>
            </a:pPr>
            <a:endParaRPr lang="en-US" sz="1500" dirty="0"/>
          </a:p>
          <a:p>
            <a:pPr algn="l" indent="0" marL="0">
              <a:lnSpc>
                <a:spcPct val="133000"/>
              </a:lnSpc>
              <a:buNone/>
            </a:pPr>
            <a:r>
              <a:rPr lang="en-US" sz="1500" dirty="0">
                <a:solidFill>
                  <a:srgbClr val="E6EDF3"/>
                </a:solidFill>
                <a:latin typeface="Consolas" pitchFamily="34" charset="0"/>
                <a:ea typeface="Consolas" pitchFamily="34" charset="-122"/>
                <a:cs typeface="Consolas" pitchFamily="34" charset="-120"/>
              </a:rPr>
              <a:t>    for each neighbor v of u:</a:t>
            </a:r>
            <a:endParaRPr lang="en-US" sz="1500" dirty="0"/>
          </a:p>
          <a:p>
            <a:pPr algn="l" indent="0" marL="0">
              <a:lnSpc>
                <a:spcPct val="133000"/>
              </a:lnSpc>
              <a:buNone/>
            </a:pPr>
            <a:r>
              <a:rPr lang="en-US" sz="1500" dirty="0">
                <a:solidFill>
                  <a:srgbClr val="E6EDF3"/>
                </a:solidFill>
                <a:latin typeface="Consolas" pitchFamily="34" charset="0"/>
                <a:ea typeface="Consolas" pitchFamily="34" charset="-122"/>
                <a:cs typeface="Consolas" pitchFamily="34" charset="-120"/>
              </a:rPr>
              <a:t>        alt ← dist[u] + weight(u, v)</a:t>
            </a:r>
            <a:endParaRPr lang="en-US" sz="1500" dirty="0"/>
          </a:p>
          <a:p>
            <a:pPr algn="l" indent="0" marL="0">
              <a:lnSpc>
                <a:spcPct val="133000"/>
              </a:lnSpc>
              <a:buNone/>
            </a:pPr>
            <a:r>
              <a:rPr lang="en-US" sz="1500" dirty="0">
                <a:solidFill>
                  <a:srgbClr val="E6EDF3"/>
                </a:solidFill>
                <a:latin typeface="Consolas" pitchFamily="34" charset="0"/>
                <a:ea typeface="Consolas" pitchFamily="34" charset="-122"/>
                <a:cs typeface="Consolas" pitchFamily="34" charset="-120"/>
              </a:rPr>
              <a:t>        if alt &lt; dist[v]:</a:t>
            </a:r>
            <a:endParaRPr lang="en-US" sz="1500" dirty="0"/>
          </a:p>
          <a:p>
            <a:pPr algn="l" indent="0" marL="0">
              <a:lnSpc>
                <a:spcPct val="133000"/>
              </a:lnSpc>
              <a:buNone/>
            </a:pPr>
            <a:r>
              <a:rPr lang="en-US" sz="1500" dirty="0">
                <a:solidFill>
                  <a:srgbClr val="E6EDF3"/>
                </a:solidFill>
                <a:latin typeface="Consolas" pitchFamily="34" charset="0"/>
                <a:ea typeface="Consolas" pitchFamily="34" charset="-122"/>
                <a:cs typeface="Consolas" pitchFamily="34" charset="-120"/>
              </a:rPr>
              <a:t>            dist[v] ← alt</a:t>
            </a:r>
            <a:endParaRPr lang="en-US" sz="1500" dirty="0"/>
          </a:p>
          <a:p>
            <a:pPr algn="l" indent="0" marL="0">
              <a:lnSpc>
                <a:spcPct val="133000"/>
              </a:lnSpc>
              <a:buNone/>
            </a:pPr>
            <a:r>
              <a:rPr lang="en-US" sz="1500" dirty="0">
                <a:solidFill>
                  <a:srgbClr val="E6EDF3"/>
                </a:solidFill>
                <a:latin typeface="Consolas" pitchFamily="34" charset="0"/>
                <a:ea typeface="Consolas" pitchFamily="34" charset="-122"/>
                <a:cs typeface="Consolas" pitchFamily="34" charset="-120"/>
              </a:rPr>
              <a:t>            predecessor[v] ← u</a:t>
            </a:r>
            <a:endParaRPr lang="en-US" sz="1500" dirty="0"/>
          </a:p>
        </p:txBody>
      </p:sp>
      <p:sp>
        <p:nvSpPr>
          <p:cNvPr id="19" name="Shape 17"/>
          <p:cNvSpPr/>
          <p:nvPr/>
        </p:nvSpPr>
        <p:spPr>
          <a:xfrm>
            <a:off x="609585" y="3952875"/>
            <a:ext cx="5625959" cy="12700"/>
          </a:xfrm>
          <a:prstGeom prst="rect">
            <a:avLst/>
          </a:prstGeom>
          <a:solidFill>
            <a:srgbClr val="3F3F3F"/>
          </a:solidFill>
          <a:ln/>
        </p:spPr>
      </p:sp>
      <p:sp>
        <p:nvSpPr>
          <p:cNvPr id="20" name="Shape 18"/>
          <p:cNvSpPr/>
          <p:nvPr/>
        </p:nvSpPr>
        <p:spPr>
          <a:xfrm>
            <a:off x="609585" y="5051127"/>
            <a:ext cx="5625959" cy="12700"/>
          </a:xfrm>
          <a:prstGeom prst="rect">
            <a:avLst/>
          </a:prstGeom>
          <a:solidFill>
            <a:srgbClr val="3F3F3F"/>
          </a:solidFill>
          <a:ln/>
        </p:spPr>
      </p:sp>
      <p:sp>
        <p:nvSpPr>
          <p:cNvPr id="21" name="Text 19"/>
          <p:cNvSpPr/>
          <p:nvPr/>
        </p:nvSpPr>
        <p:spPr>
          <a:xfrm>
            <a:off x="11819634" y="6458545"/>
            <a:ext cx="372061"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9D9D9D"/>
                </a:solidFill>
                <a:latin typeface="Fira Mono" pitchFamily="34" charset="0"/>
                <a:ea typeface="Fira Mono" pitchFamily="34" charset="-122"/>
                <a:cs typeface="Fira Mono"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11822"/>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REPRESENTATION · RUNTIME</a:t>
            </a:r>
            <a:endParaRPr lang="en-US" sz="1100" dirty="0"/>
          </a:p>
        </p:txBody>
      </p:sp>
      <p:sp>
        <p:nvSpPr>
          <p:cNvPr id="3" name="Text 1"/>
          <p:cNvSpPr/>
          <p:nvPr/>
        </p:nvSpPr>
        <p:spPr>
          <a:xfrm>
            <a:off x="609585" y="904042"/>
            <a:ext cx="10972526" cy="475555"/>
          </a:xfrm>
          <a:prstGeom prst="rect">
            <a:avLst/>
          </a:prstGeom>
          <a:noFill/>
          <a:ln/>
        </p:spPr>
        <p:txBody>
          <a:bodyPr wrap="none" lIns="0" tIns="0" rIns="0" bIns="0" rtlCol="0" anchor="t"/>
          <a:lstStyle/>
          <a:p>
            <a:pPr algn="l" indent="0" marL="0">
              <a:lnSpc>
                <a:spcPct val="89000"/>
              </a:lnSpc>
              <a:buNone/>
            </a:pPr>
            <a:r>
              <a:rPr lang="en-US" sz="3500" spc="-42" kern="100" dirty="0">
                <a:solidFill>
                  <a:srgbClr val="ECECEC"/>
                </a:solidFill>
                <a:latin typeface="Exo SemiBold" pitchFamily="34" charset="0"/>
                <a:ea typeface="Exo SemiBold" pitchFamily="34" charset="-122"/>
                <a:cs typeface="Exo SemiBold" pitchFamily="34" charset="-120"/>
              </a:rPr>
              <a:t>Implementation choices change the runtime</a:t>
            </a:r>
            <a:endParaRPr lang="en-US" sz="3500" dirty="0"/>
          </a:p>
        </p:txBody>
      </p:sp>
      <p:sp>
        <p:nvSpPr>
          <p:cNvPr id="4" name="Shape 2"/>
          <p:cNvSpPr/>
          <p:nvPr/>
        </p:nvSpPr>
        <p:spPr>
          <a:xfrm>
            <a:off x="609585" y="1588988"/>
            <a:ext cx="2743131" cy="31651"/>
          </a:xfrm>
          <a:prstGeom prst="roundRect">
            <a:avLst>
              <a:gd name="adj" fmla="val 49998"/>
            </a:avLst>
          </a:prstGeom>
          <a:solidFill>
            <a:srgbClr val="9BE1FF"/>
          </a:solidFill>
          <a:ln/>
        </p:spPr>
      </p:sp>
      <p:sp>
        <p:nvSpPr>
          <p:cNvPr id="5" name="Shape 3"/>
          <p:cNvSpPr/>
          <p:nvPr/>
        </p:nvSpPr>
        <p:spPr>
          <a:xfrm>
            <a:off x="609585" y="1844576"/>
            <a:ext cx="5333867" cy="2488208"/>
          </a:xfrm>
          <a:prstGeom prst="rect">
            <a:avLst/>
          </a:prstGeom>
          <a:solidFill>
            <a:srgbClr val="0E1F40"/>
          </a:solidFill>
          <a:ln/>
        </p:spPr>
      </p:sp>
      <p:pic>
        <p:nvPicPr>
          <p:cNvPr id="6" name="Image 0" descr="preencoded.png">    </p:cNvPr>
          <p:cNvPicPr>
            <a:picLocks noChangeAspect="1"/>
          </p:cNvPicPr>
          <p:nvPr/>
        </p:nvPicPr>
        <p:blipFill>
          <a:blip r:embed="rId1"/>
          <a:stretch>
            <a:fillRect/>
          </a:stretch>
        </p:blipFill>
        <p:spPr>
          <a:xfrm>
            <a:off x="888978" y="2073176"/>
            <a:ext cx="380990" cy="381000"/>
          </a:xfrm>
          <a:prstGeom prst="rect">
            <a:avLst/>
          </a:prstGeom>
        </p:spPr>
      </p:pic>
      <p:sp>
        <p:nvSpPr>
          <p:cNvPr id="7" name="Text 4"/>
          <p:cNvSpPr/>
          <p:nvPr/>
        </p:nvSpPr>
        <p:spPr>
          <a:xfrm>
            <a:off x="888978" y="2569809"/>
            <a:ext cx="4775081" cy="318492"/>
          </a:xfrm>
          <a:prstGeom prst="rect">
            <a:avLst/>
          </a:prstGeom>
          <a:noFill/>
          <a:ln/>
        </p:spPr>
        <p:txBody>
          <a:bodyPr wrap="none" lIns="0" tIns="0" rIns="0" bIns="0" rtlCol="0" anchor="t"/>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Adjacency list + min-priority queue</a:t>
            </a:r>
            <a:endParaRPr lang="en-US" sz="1900" dirty="0"/>
          </a:p>
        </p:txBody>
      </p:sp>
      <p:sp>
        <p:nvSpPr>
          <p:cNvPr id="8" name="Text 5"/>
          <p:cNvSpPr/>
          <p:nvPr/>
        </p:nvSpPr>
        <p:spPr>
          <a:xfrm>
            <a:off x="888978" y="3001268"/>
            <a:ext cx="4775081" cy="419100"/>
          </a:xfrm>
          <a:prstGeom prst="rect">
            <a:avLst/>
          </a:prstGeom>
          <a:noFill/>
          <a:ln/>
        </p:spPr>
        <p:txBody>
          <a:bodyPr wrap="none" lIns="0" tIns="0" rIns="0" bIns="0" rtlCol="0" anchor="t"/>
          <a:lstStyle/>
          <a:p>
            <a:pPr algn="l" indent="0" marL="0">
              <a:lnSpc>
                <a:spcPct val="110000"/>
              </a:lnSpc>
              <a:buNone/>
            </a:pPr>
            <a:r>
              <a:rPr lang="en-US" sz="2500" dirty="0">
                <a:solidFill>
                  <a:srgbClr val="D5D5D5"/>
                </a:solidFill>
                <a:latin typeface="Exo" pitchFamily="34" charset="0"/>
                <a:ea typeface="Exo" pitchFamily="34" charset="-122"/>
                <a:cs typeface="Exo" pitchFamily="34" charset="-120"/>
              </a:rPr>
              <a:t>O((V + E) log V)</a:t>
            </a:r>
            <a:endParaRPr lang="en-US" sz="2500" dirty="0"/>
          </a:p>
        </p:txBody>
      </p:sp>
      <p:sp>
        <p:nvSpPr>
          <p:cNvPr id="9" name="Text 6"/>
          <p:cNvSpPr/>
          <p:nvPr/>
        </p:nvSpPr>
        <p:spPr>
          <a:xfrm>
            <a:off x="888978" y="3563243"/>
            <a:ext cx="4775081"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Efficient for sparse graphs; the queue quickly exposes the next closest vertex.</a:t>
            </a:r>
            <a:endParaRPr lang="en-US" sz="1500" dirty="0"/>
          </a:p>
        </p:txBody>
      </p:sp>
      <p:sp>
        <p:nvSpPr>
          <p:cNvPr id="10" name="Shape 7"/>
          <p:cNvSpPr/>
          <p:nvPr/>
        </p:nvSpPr>
        <p:spPr>
          <a:xfrm>
            <a:off x="6248244" y="1844576"/>
            <a:ext cx="5333867" cy="2488208"/>
          </a:xfrm>
          <a:prstGeom prst="rect">
            <a:avLst/>
          </a:prstGeom>
          <a:solidFill>
            <a:srgbClr val="241B55"/>
          </a:solidFill>
          <a:ln/>
        </p:spPr>
      </p:sp>
      <p:pic>
        <p:nvPicPr>
          <p:cNvPr id="11" name="Image 1" descr="preencoded.png">    </p:cNvPr>
          <p:cNvPicPr>
            <a:picLocks noChangeAspect="1"/>
          </p:cNvPicPr>
          <p:nvPr/>
        </p:nvPicPr>
        <p:blipFill>
          <a:blip r:embed="rId2"/>
          <a:stretch>
            <a:fillRect/>
          </a:stretch>
        </p:blipFill>
        <p:spPr>
          <a:xfrm>
            <a:off x="6527637" y="2073176"/>
            <a:ext cx="380990" cy="381000"/>
          </a:xfrm>
          <a:prstGeom prst="rect">
            <a:avLst/>
          </a:prstGeom>
        </p:spPr>
      </p:pic>
      <p:sp>
        <p:nvSpPr>
          <p:cNvPr id="12" name="Text 8"/>
          <p:cNvSpPr/>
          <p:nvPr/>
        </p:nvSpPr>
        <p:spPr>
          <a:xfrm>
            <a:off x="6527637" y="2569809"/>
            <a:ext cx="4775081" cy="318492"/>
          </a:xfrm>
          <a:prstGeom prst="rect">
            <a:avLst/>
          </a:prstGeom>
          <a:noFill/>
          <a:ln/>
        </p:spPr>
        <p:txBody>
          <a:bodyPr wrap="none" lIns="0" tIns="0" rIns="0" bIns="0" rtlCol="0" anchor="t"/>
          <a:lstStyle/>
          <a:p>
            <a:pPr algn="l" indent="0" marL="0">
              <a:lnSpc>
                <a:spcPct val="110000"/>
              </a:lnSpc>
              <a:buNone/>
            </a:pPr>
            <a:r>
              <a:rPr lang="en-US" sz="1900" dirty="0">
                <a:solidFill>
                  <a:srgbClr val="FFFFFF"/>
                </a:solidFill>
                <a:latin typeface="Exo" pitchFamily="34" charset="0"/>
                <a:ea typeface="Exo" pitchFamily="34" charset="-122"/>
                <a:cs typeface="Exo" pitchFamily="34" charset="-120"/>
              </a:rPr>
              <a:t>Simple array or adjacency matrix</a:t>
            </a:r>
            <a:endParaRPr lang="en-US" sz="1900" dirty="0"/>
          </a:p>
        </p:txBody>
      </p:sp>
      <p:sp>
        <p:nvSpPr>
          <p:cNvPr id="13" name="Text 9"/>
          <p:cNvSpPr/>
          <p:nvPr/>
        </p:nvSpPr>
        <p:spPr>
          <a:xfrm>
            <a:off x="6527637" y="3001268"/>
            <a:ext cx="4775081" cy="419100"/>
          </a:xfrm>
          <a:prstGeom prst="rect">
            <a:avLst/>
          </a:prstGeom>
          <a:noFill/>
          <a:ln/>
        </p:spPr>
        <p:txBody>
          <a:bodyPr wrap="none" lIns="0" tIns="0" rIns="0" bIns="0" rtlCol="0" anchor="t"/>
          <a:lstStyle/>
          <a:p>
            <a:pPr algn="l" indent="0" marL="0">
              <a:lnSpc>
                <a:spcPct val="110000"/>
              </a:lnSpc>
              <a:buNone/>
            </a:pPr>
            <a:r>
              <a:rPr lang="en-US" sz="2500" dirty="0">
                <a:solidFill>
                  <a:srgbClr val="FFFFFF"/>
                </a:solidFill>
                <a:latin typeface="Exo" pitchFamily="34" charset="0"/>
                <a:ea typeface="Exo" pitchFamily="34" charset="-122"/>
                <a:cs typeface="Exo" pitchFamily="34" charset="-120"/>
              </a:rPr>
              <a:t>O(V²)</a:t>
            </a:r>
            <a:endParaRPr lang="en-US" sz="2500" dirty="0"/>
          </a:p>
        </p:txBody>
      </p:sp>
      <p:sp>
        <p:nvSpPr>
          <p:cNvPr id="14" name="Text 10"/>
          <p:cNvSpPr/>
          <p:nvPr/>
        </p:nvSpPr>
        <p:spPr>
          <a:xfrm>
            <a:off x="6527637" y="3563243"/>
            <a:ext cx="4775081"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FFFFFF"/>
                </a:solidFill>
                <a:latin typeface="Exo" pitchFamily="34" charset="0"/>
                <a:ea typeface="Exo" pitchFamily="34" charset="-122"/>
                <a:cs typeface="Exo" pitchFamily="34" charset="-120"/>
              </a:rPr>
              <a:t>Simple to implement and often reasonable when the graph is dense.</a:t>
            </a:r>
            <a:endParaRPr lang="en-US" sz="1500" dirty="0"/>
          </a:p>
        </p:txBody>
      </p:sp>
      <p:sp>
        <p:nvSpPr>
          <p:cNvPr id="15" name="Text 11"/>
          <p:cNvSpPr/>
          <p:nvPr/>
        </p:nvSpPr>
        <p:spPr>
          <a:xfrm>
            <a:off x="609585" y="5881227"/>
            <a:ext cx="10972526" cy="368697"/>
          </a:xfrm>
          <a:prstGeom prst="rect">
            <a:avLst/>
          </a:prstGeom>
          <a:noFill/>
          <a:ln/>
        </p:spPr>
        <p:txBody>
          <a:bodyPr wrap="square" lIns="0" tIns="0" rIns="0" bIns="0" rtlCol="0" anchor="t">
            <a:normAutofit/>
          </a:bodyPr>
          <a:lstStyle/>
          <a:p>
            <a:pPr algn="l" indent="0" marL="0">
              <a:lnSpc>
                <a:spcPct val="110000"/>
              </a:lnSpc>
              <a:buNone/>
            </a:pPr>
            <a:r>
              <a:rPr lang="en-US" sz="1100" spc="11" kern="100" dirty="0">
                <a:solidFill>
                  <a:srgbClr val="9D9D9D"/>
                </a:solidFill>
                <a:latin typeface="Exo" pitchFamily="34" charset="0"/>
                <a:ea typeface="Exo" pitchFamily="34" charset="-122"/>
                <a:cs typeface="Exo" pitchFamily="34" charset="-120"/>
              </a:rPr>
              <a:t>V = number of vertices · E = number of edges · Space is typically O(V + E) with an adjacency list, plus distances and predecessor data. Choose by graph density and the available data structure.</a:t>
            </a:r>
            <a:endParaRPr lang="en-US" sz="1100" dirty="0"/>
          </a:p>
        </p:txBody>
      </p:sp>
      <p:sp>
        <p:nvSpPr>
          <p:cNvPr id="16" name="Text 12"/>
          <p:cNvSpPr/>
          <p:nvPr/>
        </p:nvSpPr>
        <p:spPr>
          <a:xfrm>
            <a:off x="11819634" y="6458545"/>
            <a:ext cx="372061"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9D9D9D"/>
                </a:solidFill>
                <a:latin typeface="Fira Mono" pitchFamily="34" charset="0"/>
                <a:ea typeface="Fira Mono" pitchFamily="34" charset="-122"/>
                <a:cs typeface="Fira Mono"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4063898" cy="6858000"/>
          </a:xfrm>
          <a:prstGeom prst="rect">
            <a:avLst/>
          </a:prstGeom>
          <a:solidFill>
            <a:srgbClr val="0E1F40"/>
          </a:solidFill>
          <a:ln/>
        </p:spPr>
      </p:sp>
      <p:sp>
        <p:nvSpPr>
          <p:cNvPr id="3" name="Text 1"/>
          <p:cNvSpPr/>
          <p:nvPr/>
        </p:nvSpPr>
        <p:spPr>
          <a:xfrm>
            <a:off x="609585" y="611822"/>
            <a:ext cx="3454314"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D5D5D5"/>
                </a:solidFill>
                <a:latin typeface="Fira Mono Medium" pitchFamily="34" charset="0"/>
                <a:ea typeface="Fira Mono Medium" pitchFamily="34" charset="-122"/>
                <a:cs typeface="Fira Mono Medium" pitchFamily="34" charset="-120"/>
              </a:rPr>
              <a:t>FROM THEORY TO SYSTEMS</a:t>
            </a:r>
            <a:endParaRPr lang="en-US" sz="1100" dirty="0"/>
          </a:p>
        </p:txBody>
      </p:sp>
      <p:sp>
        <p:nvSpPr>
          <p:cNvPr id="4" name="Text 2"/>
          <p:cNvSpPr/>
          <p:nvPr/>
        </p:nvSpPr>
        <p:spPr>
          <a:xfrm>
            <a:off x="609585" y="904042"/>
            <a:ext cx="2971726" cy="1902222"/>
          </a:xfrm>
          <a:prstGeom prst="rect">
            <a:avLst/>
          </a:prstGeom>
          <a:noFill/>
          <a:ln/>
        </p:spPr>
        <p:txBody>
          <a:bodyPr wrap="square" lIns="0" tIns="0" rIns="0" bIns="0" rtlCol="0" anchor="t">
            <a:normAutofit/>
          </a:bodyPr>
          <a:lstStyle/>
          <a:p>
            <a:pPr algn="l" indent="0" marL="0">
              <a:lnSpc>
                <a:spcPct val="89000"/>
              </a:lnSpc>
              <a:buNone/>
            </a:pPr>
            <a:r>
              <a:rPr lang="en-US" sz="3500" spc="-42" kern="100" dirty="0">
                <a:solidFill>
                  <a:srgbClr val="D5D5D5"/>
                </a:solidFill>
                <a:latin typeface="Exo SemiBold" pitchFamily="34" charset="0"/>
                <a:ea typeface="Exo SemiBold" pitchFamily="34" charset="-122"/>
                <a:cs typeface="Exo SemiBold" pitchFamily="34" charset="-120"/>
              </a:rPr>
              <a:t>One idea, many real routing systems</a:t>
            </a:r>
            <a:endParaRPr lang="en-US" sz="3500" dirty="0"/>
          </a:p>
        </p:txBody>
      </p:sp>
      <p:sp>
        <p:nvSpPr>
          <p:cNvPr id="5" name="Shape 3"/>
          <p:cNvSpPr/>
          <p:nvPr/>
        </p:nvSpPr>
        <p:spPr>
          <a:xfrm>
            <a:off x="609585" y="3015655"/>
            <a:ext cx="742931" cy="31651"/>
          </a:xfrm>
          <a:prstGeom prst="roundRect">
            <a:avLst>
              <a:gd name="adj" fmla="val 49998"/>
            </a:avLst>
          </a:prstGeom>
          <a:solidFill>
            <a:srgbClr val="9BE1FF"/>
          </a:solidFill>
          <a:ln/>
        </p:spPr>
      </p:sp>
      <p:sp>
        <p:nvSpPr>
          <p:cNvPr id="6" name="Text 4"/>
          <p:cNvSpPr/>
          <p:nvPr/>
        </p:nvSpPr>
        <p:spPr>
          <a:xfrm>
            <a:off x="609585" y="3271242"/>
            <a:ext cx="2971726" cy="108188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Whenever a system must move through weighted choices, shortest-path reasoning turns possibilities into a route.</a:t>
            </a:r>
            <a:endParaRPr lang="en-US" sz="1500" dirty="0"/>
          </a:p>
        </p:txBody>
      </p:sp>
      <p:sp>
        <p:nvSpPr>
          <p:cNvPr id="7" name="Text 5"/>
          <p:cNvSpPr/>
          <p:nvPr/>
        </p:nvSpPr>
        <p:spPr>
          <a:xfrm>
            <a:off x="609585" y="6145252"/>
            <a:ext cx="3454314"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D5D5D5"/>
                </a:solidFill>
                <a:latin typeface="Fira Mono Medium" pitchFamily="34" charset="0"/>
                <a:ea typeface="Fira Mono Medium" pitchFamily="34" charset="-122"/>
                <a:cs typeface="Fira Mono Medium" pitchFamily="34" charset="-120"/>
              </a:rPr>
              <a:t>ROUTE · SELECT · UPDATE</a:t>
            </a:r>
            <a:endParaRPr lang="en-US" sz="1100" dirty="0"/>
          </a:p>
        </p:txBody>
      </p:sp>
      <p:pic>
        <p:nvPicPr>
          <p:cNvPr id="8" name="Image 0" descr="preencoded.png">    </p:cNvPr>
          <p:cNvPicPr>
            <a:picLocks noChangeAspect="1"/>
          </p:cNvPicPr>
          <p:nvPr/>
        </p:nvPicPr>
        <p:blipFill>
          <a:blip r:embed="rId1"/>
          <a:stretch>
            <a:fillRect/>
          </a:stretch>
        </p:blipFill>
        <p:spPr>
          <a:xfrm>
            <a:off x="5232269" y="1168400"/>
            <a:ext cx="476238" cy="476250"/>
          </a:xfrm>
          <a:prstGeom prst="rect">
            <a:avLst/>
          </a:prstGeom>
        </p:spPr>
      </p:pic>
      <p:sp>
        <p:nvSpPr>
          <p:cNvPr id="9" name="Text 6"/>
          <p:cNvSpPr/>
          <p:nvPr/>
        </p:nvSpPr>
        <p:spPr>
          <a:xfrm>
            <a:off x="5232269" y="1844357"/>
            <a:ext cx="2235144" cy="198041"/>
          </a:xfrm>
          <a:prstGeom prst="rect">
            <a:avLst/>
          </a:prstGeom>
          <a:noFill/>
          <a:ln/>
        </p:spPr>
        <p:txBody>
          <a:bodyPr wrap="none" lIns="0" tIns="0" rIns="0" bIns="0" rtlCol="0" anchor="t"/>
          <a:lstStyle/>
          <a:p>
            <a:pPr algn="l" indent="0" marL="0">
              <a:lnSpc>
                <a:spcPct val="108000"/>
              </a:lnSpc>
              <a:buNone/>
            </a:pPr>
            <a:r>
              <a:rPr lang="en-US" sz="1200" spc="192" kern="100" dirty="0">
                <a:solidFill>
                  <a:srgbClr val="D5D5D5"/>
                </a:solidFill>
                <a:latin typeface="Michroma" pitchFamily="34" charset="0"/>
                <a:ea typeface="Michroma" pitchFamily="34" charset="-122"/>
                <a:cs typeface="Michroma" pitchFamily="34" charset="-120"/>
              </a:rPr>
              <a:t>GPS NAVIGATION</a:t>
            </a:r>
            <a:endParaRPr lang="en-US" sz="1200" dirty="0"/>
          </a:p>
        </p:txBody>
      </p:sp>
      <p:sp>
        <p:nvSpPr>
          <p:cNvPr id="10" name="Text 7"/>
          <p:cNvSpPr/>
          <p:nvPr/>
        </p:nvSpPr>
        <p:spPr>
          <a:xfrm>
            <a:off x="5232269" y="2163366"/>
            <a:ext cx="2235144"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Minimize travel cost across road networks.</a:t>
            </a:r>
            <a:endParaRPr lang="en-US" sz="1500" dirty="0"/>
          </a:p>
        </p:txBody>
      </p:sp>
      <p:pic>
        <p:nvPicPr>
          <p:cNvPr id="11" name="Image 1" descr="preencoded.png">    </p:cNvPr>
          <p:cNvPicPr>
            <a:picLocks noChangeAspect="1"/>
          </p:cNvPicPr>
          <p:nvPr/>
        </p:nvPicPr>
        <p:blipFill>
          <a:blip r:embed="rId2"/>
          <a:stretch>
            <a:fillRect/>
          </a:stretch>
        </p:blipFill>
        <p:spPr>
          <a:xfrm>
            <a:off x="8686583" y="1168400"/>
            <a:ext cx="476238" cy="476250"/>
          </a:xfrm>
          <a:prstGeom prst="rect">
            <a:avLst/>
          </a:prstGeom>
        </p:spPr>
      </p:pic>
      <p:sp>
        <p:nvSpPr>
          <p:cNvPr id="12" name="Text 8"/>
          <p:cNvSpPr/>
          <p:nvPr/>
        </p:nvSpPr>
        <p:spPr>
          <a:xfrm>
            <a:off x="8686583" y="1844357"/>
            <a:ext cx="2235144" cy="396081"/>
          </a:xfrm>
          <a:prstGeom prst="rect">
            <a:avLst/>
          </a:prstGeom>
          <a:noFill/>
          <a:ln/>
        </p:spPr>
        <p:txBody>
          <a:bodyPr wrap="square" lIns="0" tIns="0" rIns="0" bIns="0" rtlCol="0" anchor="t">
            <a:normAutofit/>
          </a:bodyPr>
          <a:lstStyle/>
          <a:p>
            <a:pPr algn="l" indent="0" marL="0">
              <a:lnSpc>
                <a:spcPct val="108000"/>
              </a:lnSpc>
              <a:buNone/>
            </a:pPr>
            <a:r>
              <a:rPr lang="en-US" sz="1200" spc="192" kern="100" dirty="0">
                <a:solidFill>
                  <a:srgbClr val="D5D5D5"/>
                </a:solidFill>
                <a:latin typeface="Michroma" pitchFamily="34" charset="0"/>
                <a:ea typeface="Michroma" pitchFamily="34" charset="-122"/>
                <a:cs typeface="Michroma" pitchFamily="34" charset="-120"/>
              </a:rPr>
              <a:t>COMPUTER NETWORKS</a:t>
            </a:r>
            <a:endParaRPr lang="en-US" sz="1200" dirty="0"/>
          </a:p>
        </p:txBody>
      </p:sp>
      <p:sp>
        <p:nvSpPr>
          <p:cNvPr id="13" name="Text 9"/>
          <p:cNvSpPr/>
          <p:nvPr/>
        </p:nvSpPr>
        <p:spPr>
          <a:xfrm>
            <a:off x="8686583" y="2361406"/>
            <a:ext cx="2235144"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Choose efficient paths for packets.</a:t>
            </a:r>
            <a:endParaRPr lang="en-US" sz="1500" dirty="0"/>
          </a:p>
        </p:txBody>
      </p:sp>
      <p:pic>
        <p:nvPicPr>
          <p:cNvPr id="14" name="Image 2" descr="preencoded.png">    </p:cNvPr>
          <p:cNvPicPr>
            <a:picLocks noChangeAspect="1"/>
          </p:cNvPicPr>
          <p:nvPr/>
        </p:nvPicPr>
        <p:blipFill>
          <a:blip r:embed="rId3"/>
          <a:stretch>
            <a:fillRect/>
          </a:stretch>
        </p:blipFill>
        <p:spPr>
          <a:xfrm>
            <a:off x="5232269" y="4064000"/>
            <a:ext cx="476238" cy="476250"/>
          </a:xfrm>
          <a:prstGeom prst="rect">
            <a:avLst/>
          </a:prstGeom>
        </p:spPr>
      </p:pic>
      <p:sp>
        <p:nvSpPr>
          <p:cNvPr id="15" name="Text 10"/>
          <p:cNvSpPr/>
          <p:nvPr/>
        </p:nvSpPr>
        <p:spPr>
          <a:xfrm>
            <a:off x="5232269" y="4739958"/>
            <a:ext cx="2235144" cy="396081"/>
          </a:xfrm>
          <a:prstGeom prst="rect">
            <a:avLst/>
          </a:prstGeom>
          <a:noFill/>
          <a:ln/>
        </p:spPr>
        <p:txBody>
          <a:bodyPr wrap="square" lIns="0" tIns="0" rIns="0" bIns="0" rtlCol="0" anchor="t">
            <a:normAutofit/>
          </a:bodyPr>
          <a:lstStyle/>
          <a:p>
            <a:pPr algn="l" indent="0" marL="0">
              <a:lnSpc>
                <a:spcPct val="108000"/>
              </a:lnSpc>
              <a:buNone/>
            </a:pPr>
            <a:r>
              <a:rPr lang="en-US" sz="1200" spc="192" kern="100" dirty="0">
                <a:solidFill>
                  <a:srgbClr val="D5D5D5"/>
                </a:solidFill>
                <a:latin typeface="Michroma" pitchFamily="34" charset="0"/>
                <a:ea typeface="Michroma" pitchFamily="34" charset="-122"/>
                <a:cs typeface="Michroma" pitchFamily="34" charset="-120"/>
              </a:rPr>
              <a:t>ROBOT NAVIGATION</a:t>
            </a:r>
            <a:endParaRPr lang="en-US" sz="1200" dirty="0"/>
          </a:p>
        </p:txBody>
      </p:sp>
      <p:sp>
        <p:nvSpPr>
          <p:cNvPr id="16" name="Text 11"/>
          <p:cNvSpPr/>
          <p:nvPr/>
        </p:nvSpPr>
        <p:spPr>
          <a:xfrm>
            <a:off x="5232269" y="5257006"/>
            <a:ext cx="2235144" cy="81141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Move through a map while minimizing travel cost.</a:t>
            </a:r>
            <a:endParaRPr lang="en-US" sz="1500" dirty="0"/>
          </a:p>
        </p:txBody>
      </p:sp>
      <p:pic>
        <p:nvPicPr>
          <p:cNvPr id="17" name="Image 3" descr="preencoded.png">    </p:cNvPr>
          <p:cNvPicPr>
            <a:picLocks noChangeAspect="1"/>
          </p:cNvPicPr>
          <p:nvPr/>
        </p:nvPicPr>
        <p:blipFill>
          <a:blip r:embed="rId4"/>
          <a:stretch>
            <a:fillRect/>
          </a:stretch>
        </p:blipFill>
        <p:spPr>
          <a:xfrm>
            <a:off x="8686583" y="4064000"/>
            <a:ext cx="476238" cy="476250"/>
          </a:xfrm>
          <a:prstGeom prst="rect">
            <a:avLst/>
          </a:prstGeom>
        </p:spPr>
      </p:pic>
      <p:sp>
        <p:nvSpPr>
          <p:cNvPr id="18" name="Text 12"/>
          <p:cNvSpPr/>
          <p:nvPr/>
        </p:nvSpPr>
        <p:spPr>
          <a:xfrm>
            <a:off x="8686583" y="4739958"/>
            <a:ext cx="2235144" cy="396081"/>
          </a:xfrm>
          <a:prstGeom prst="rect">
            <a:avLst/>
          </a:prstGeom>
          <a:noFill/>
          <a:ln/>
        </p:spPr>
        <p:txBody>
          <a:bodyPr wrap="square" lIns="0" tIns="0" rIns="0" bIns="0" rtlCol="0" anchor="t">
            <a:normAutofit/>
          </a:bodyPr>
          <a:lstStyle/>
          <a:p>
            <a:pPr algn="l" indent="0" marL="0">
              <a:lnSpc>
                <a:spcPct val="108000"/>
              </a:lnSpc>
              <a:buNone/>
            </a:pPr>
            <a:r>
              <a:rPr lang="en-US" sz="1200" spc="192" kern="100" dirty="0">
                <a:solidFill>
                  <a:srgbClr val="D5D5D5"/>
                </a:solidFill>
                <a:latin typeface="Michroma" pitchFamily="34" charset="0"/>
                <a:ea typeface="Michroma" pitchFamily="34" charset="-122"/>
                <a:cs typeface="Michroma" pitchFamily="34" charset="-120"/>
              </a:rPr>
              <a:t>MAPS AND GAMES</a:t>
            </a:r>
            <a:endParaRPr lang="en-US" sz="1200" dirty="0"/>
          </a:p>
        </p:txBody>
      </p:sp>
      <p:sp>
        <p:nvSpPr>
          <p:cNvPr id="19" name="Text 13"/>
          <p:cNvSpPr/>
          <p:nvPr/>
        </p:nvSpPr>
        <p:spPr>
          <a:xfrm>
            <a:off x="8686583" y="5257006"/>
            <a:ext cx="2235144"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Guide agents through weighted terrain.</a:t>
            </a:r>
            <a:endParaRPr lang="en-US" sz="1500" dirty="0"/>
          </a:p>
        </p:txBody>
      </p:sp>
      <p:sp>
        <p:nvSpPr>
          <p:cNvPr id="20" name="Shape 14"/>
          <p:cNvSpPr/>
          <p:nvPr/>
        </p:nvSpPr>
        <p:spPr>
          <a:xfrm>
            <a:off x="8070648" y="558800"/>
            <a:ext cx="12700" cy="2895600"/>
          </a:xfrm>
          <a:prstGeom prst="rect">
            <a:avLst/>
          </a:prstGeom>
          <a:solidFill>
            <a:srgbClr val="3F3F3F"/>
          </a:solidFill>
          <a:ln/>
        </p:spPr>
      </p:sp>
      <p:sp>
        <p:nvSpPr>
          <p:cNvPr id="21" name="Shape 15"/>
          <p:cNvSpPr/>
          <p:nvPr/>
        </p:nvSpPr>
        <p:spPr>
          <a:xfrm>
            <a:off x="4622684" y="3448050"/>
            <a:ext cx="3454314" cy="12700"/>
          </a:xfrm>
          <a:prstGeom prst="rect">
            <a:avLst/>
          </a:prstGeom>
          <a:solidFill>
            <a:srgbClr val="3F3F3F"/>
          </a:solidFill>
          <a:ln/>
        </p:spPr>
      </p:sp>
      <p:sp>
        <p:nvSpPr>
          <p:cNvPr id="22" name="Shape 16"/>
          <p:cNvSpPr/>
          <p:nvPr/>
        </p:nvSpPr>
        <p:spPr>
          <a:xfrm>
            <a:off x="8070648" y="3454400"/>
            <a:ext cx="12700" cy="2895600"/>
          </a:xfrm>
          <a:prstGeom prst="rect">
            <a:avLst/>
          </a:prstGeom>
          <a:solidFill>
            <a:srgbClr val="3F3F3F"/>
          </a:solidFill>
          <a:ln/>
        </p:spPr>
      </p:sp>
      <p:sp>
        <p:nvSpPr>
          <p:cNvPr id="23" name="Shape 17"/>
          <p:cNvSpPr/>
          <p:nvPr/>
        </p:nvSpPr>
        <p:spPr>
          <a:xfrm>
            <a:off x="8076998" y="3448050"/>
            <a:ext cx="3454314" cy="12700"/>
          </a:xfrm>
          <a:prstGeom prst="rect">
            <a:avLst/>
          </a:prstGeom>
          <a:solidFill>
            <a:srgbClr val="3F3F3F"/>
          </a:solidFill>
          <a:ln/>
        </p:spPr>
      </p:sp>
      <p:sp>
        <p:nvSpPr>
          <p:cNvPr id="24" name="Text 18"/>
          <p:cNvSpPr/>
          <p:nvPr/>
        </p:nvSpPr>
        <p:spPr>
          <a:xfrm>
            <a:off x="11819634" y="6458545"/>
            <a:ext cx="372061"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9D9D9D"/>
                </a:solidFill>
                <a:latin typeface="Fira Mono" pitchFamily="34" charset="0"/>
                <a:ea typeface="Fira Mono" pitchFamily="34" charset="-122"/>
                <a:cs typeface="Fira Mono"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6095848" cy="6858000"/>
          </a:xfrm>
          <a:prstGeom prst="rect">
            <a:avLst/>
          </a:prstGeom>
          <a:solidFill>
            <a:srgbClr val="0E1F40"/>
          </a:solidFill>
          <a:ln/>
        </p:spPr>
      </p:sp>
      <p:sp>
        <p:nvSpPr>
          <p:cNvPr id="3" name="Text 1"/>
          <p:cNvSpPr/>
          <p:nvPr/>
        </p:nvSpPr>
        <p:spPr>
          <a:xfrm>
            <a:off x="660383" y="611822"/>
            <a:ext cx="5435464"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D5D5D5"/>
                </a:solidFill>
                <a:latin typeface="Fira Mono Medium" pitchFamily="34" charset="0"/>
                <a:ea typeface="Fira Mono Medium" pitchFamily="34" charset="-122"/>
                <a:cs typeface="Fira Mono Medium" pitchFamily="34" charset="-120"/>
              </a:rPr>
              <a:t>ASSUMPTION · BOUNDARY</a:t>
            </a:r>
            <a:endParaRPr lang="en-US" sz="1100" dirty="0"/>
          </a:p>
        </p:txBody>
      </p:sp>
      <p:sp>
        <p:nvSpPr>
          <p:cNvPr id="4" name="Text 2"/>
          <p:cNvSpPr/>
          <p:nvPr/>
        </p:nvSpPr>
        <p:spPr>
          <a:xfrm>
            <a:off x="660383" y="904042"/>
            <a:ext cx="4902077" cy="1902222"/>
          </a:xfrm>
          <a:prstGeom prst="rect">
            <a:avLst/>
          </a:prstGeom>
          <a:noFill/>
          <a:ln/>
        </p:spPr>
        <p:txBody>
          <a:bodyPr wrap="square" lIns="0" tIns="0" rIns="0" bIns="0" rtlCol="0" anchor="t">
            <a:normAutofit/>
          </a:bodyPr>
          <a:lstStyle/>
          <a:p>
            <a:pPr algn="l" indent="0" marL="0">
              <a:lnSpc>
                <a:spcPct val="89000"/>
              </a:lnSpc>
              <a:buNone/>
            </a:pPr>
            <a:r>
              <a:rPr lang="en-US" sz="3500" spc="-42" kern="100" dirty="0">
                <a:solidFill>
                  <a:srgbClr val="D5D5D5"/>
                </a:solidFill>
                <a:latin typeface="Exo SemiBold" pitchFamily="34" charset="0"/>
                <a:ea typeface="Exo SemiBold" pitchFamily="34" charset="-122"/>
                <a:cs typeface="Exo SemiBold" pitchFamily="34" charset="-120"/>
              </a:rPr>
              <a:t>Powerful for non-negative weights, bounded by one assumption</a:t>
            </a:r>
            <a:endParaRPr lang="en-US" sz="3500" dirty="0"/>
          </a:p>
        </p:txBody>
      </p:sp>
      <p:sp>
        <p:nvSpPr>
          <p:cNvPr id="5" name="Shape 3"/>
          <p:cNvSpPr/>
          <p:nvPr/>
        </p:nvSpPr>
        <p:spPr>
          <a:xfrm>
            <a:off x="660383" y="3015655"/>
            <a:ext cx="1225519" cy="31651"/>
          </a:xfrm>
          <a:prstGeom prst="roundRect">
            <a:avLst>
              <a:gd name="adj" fmla="val 49998"/>
            </a:avLst>
          </a:prstGeom>
          <a:solidFill>
            <a:srgbClr val="9BE1FF"/>
          </a:solidFill>
          <a:ln/>
        </p:spPr>
      </p:sp>
      <p:sp>
        <p:nvSpPr>
          <p:cNvPr id="6" name="Text 4"/>
          <p:cNvSpPr/>
          <p:nvPr/>
        </p:nvSpPr>
        <p:spPr>
          <a:xfrm>
            <a:off x="660383" y="3271242"/>
            <a:ext cx="4902077" cy="649089"/>
          </a:xfrm>
          <a:prstGeom prst="rect">
            <a:avLst/>
          </a:prstGeom>
          <a:noFill/>
          <a:ln/>
        </p:spPr>
        <p:txBody>
          <a:bodyPr wrap="square" lIns="0" tIns="0" rIns="0" bIns="0" rtlCol="0" anchor="t">
            <a:normAutofit/>
          </a:bodyPr>
          <a:lstStyle/>
          <a:p>
            <a:pPr algn="l" indent="0" marL="0">
              <a:lnSpc>
                <a:spcPct val="118000"/>
              </a:lnSpc>
              <a:buNone/>
            </a:pPr>
            <a:r>
              <a:rPr lang="en-US" sz="1800" dirty="0">
                <a:solidFill>
                  <a:srgbClr val="D5D5D5"/>
                </a:solidFill>
                <a:latin typeface="Exo" pitchFamily="34" charset="0"/>
                <a:ea typeface="Exo" pitchFamily="34" charset="-122"/>
                <a:cs typeface="Exo" pitchFamily="34" charset="-120"/>
              </a:rPr>
              <a:t>The greedy guarantee depends on edge weights being non-negative.</a:t>
            </a:r>
            <a:endParaRPr lang="en-US" sz="1800" dirty="0"/>
          </a:p>
        </p:txBody>
      </p:sp>
      <p:sp>
        <p:nvSpPr>
          <p:cNvPr id="7" name="Shape 5"/>
          <p:cNvSpPr/>
          <p:nvPr/>
        </p:nvSpPr>
        <p:spPr>
          <a:xfrm>
            <a:off x="660383" y="5994400"/>
            <a:ext cx="1882926" cy="304800"/>
          </a:xfrm>
          <a:prstGeom prst="roundRect">
            <a:avLst>
              <a:gd name="adj" fmla="val 3750"/>
            </a:avLst>
          </a:prstGeom>
          <a:solidFill>
            <a:srgbClr val="00364D"/>
          </a:solidFill>
          <a:ln/>
        </p:spPr>
      </p:sp>
      <p:sp>
        <p:nvSpPr>
          <p:cNvPr id="8" name="Text 6"/>
          <p:cNvSpPr/>
          <p:nvPr/>
        </p:nvSpPr>
        <p:spPr>
          <a:xfrm>
            <a:off x="774681" y="6075363"/>
            <a:ext cx="2263917" cy="190500"/>
          </a:xfrm>
          <a:prstGeom prst="rect">
            <a:avLst/>
          </a:prstGeom>
          <a:noFill/>
          <a:ln/>
        </p:spPr>
        <p:txBody>
          <a:bodyPr wrap="none" lIns="0" tIns="0" rIns="0" bIns="0" rtlCol="0" anchor="t"/>
          <a:lstStyle/>
          <a:p>
            <a:pPr algn="l" indent="0" marL="0">
              <a:lnSpc>
                <a:spcPct val="104000"/>
              </a:lnSpc>
              <a:buNone/>
            </a:pPr>
            <a:r>
              <a:rPr lang="en-US" sz="1200" spc="192" kern="100" dirty="0">
                <a:solidFill>
                  <a:srgbClr val="D5D5D5"/>
                </a:solidFill>
                <a:latin typeface="Michroma" pitchFamily="34" charset="0"/>
                <a:ea typeface="Michroma" pitchFamily="34" charset="-122"/>
                <a:cs typeface="Michroma" pitchFamily="34" charset="-120"/>
              </a:rPr>
              <a:t>WEIGHTS ≥ 0</a:t>
            </a:r>
            <a:endParaRPr lang="en-US" sz="1200" dirty="0"/>
          </a:p>
        </p:txBody>
      </p:sp>
      <p:sp>
        <p:nvSpPr>
          <p:cNvPr id="9" name="Shape 7"/>
          <p:cNvSpPr/>
          <p:nvPr/>
        </p:nvSpPr>
        <p:spPr>
          <a:xfrm>
            <a:off x="6629234" y="609600"/>
            <a:ext cx="4902077" cy="2286695"/>
          </a:xfrm>
          <a:prstGeom prst="rect">
            <a:avLst/>
          </a:prstGeom>
          <a:solidFill>
            <a:srgbClr val="07303A"/>
          </a:solidFill>
          <a:ln/>
        </p:spPr>
      </p:sp>
      <p:sp>
        <p:nvSpPr>
          <p:cNvPr id="10" name="Text 8"/>
          <p:cNvSpPr/>
          <p:nvPr/>
        </p:nvSpPr>
        <p:spPr>
          <a:xfrm>
            <a:off x="6908627" y="863600"/>
            <a:ext cx="4343291" cy="419100"/>
          </a:xfrm>
          <a:prstGeom prst="rect">
            <a:avLst/>
          </a:prstGeom>
          <a:noFill/>
          <a:ln/>
        </p:spPr>
        <p:txBody>
          <a:bodyPr wrap="none" lIns="0" tIns="0" rIns="0" bIns="0" rtlCol="0" anchor="t"/>
          <a:lstStyle/>
          <a:p>
            <a:pPr algn="l" indent="0" marL="0">
              <a:lnSpc>
                <a:spcPct val="110000"/>
              </a:lnSpc>
              <a:buNone/>
            </a:pPr>
            <a:r>
              <a:rPr lang="en-US" sz="2500" dirty="0">
                <a:solidFill>
                  <a:srgbClr val="FFFFFF"/>
                </a:solidFill>
                <a:latin typeface="Exo" pitchFamily="34" charset="0"/>
                <a:ea typeface="Exo" pitchFamily="34" charset="-122"/>
                <a:cs typeface="Exo" pitchFamily="34" charset="-120"/>
              </a:rPr>
              <a:t>Advantages</a:t>
            </a:r>
            <a:endParaRPr lang="en-US" sz="2500" dirty="0"/>
          </a:p>
        </p:txBody>
      </p:sp>
      <p:sp>
        <p:nvSpPr>
          <p:cNvPr id="11" name="Text 9"/>
          <p:cNvSpPr/>
          <p:nvPr/>
        </p:nvSpPr>
        <p:spPr>
          <a:xfrm>
            <a:off x="6908627" y="1425575"/>
            <a:ext cx="4343291" cy="913011"/>
          </a:xfrm>
          <a:prstGeom prst="rect">
            <a:avLst/>
          </a:prstGeom>
          <a:noFill/>
          <a:ln/>
        </p:spPr>
        <p:txBody>
          <a:bodyPr wrap="square" lIns="0" tIns="0" rIns="0" bIns="0" rtlCol="0" anchor="t">
            <a:normAutofit/>
          </a:bodyPr>
          <a:lstStyle/>
          <a:p>
            <a:pPr algn="l" marL="304800" indent="-304800">
              <a:lnSpc>
                <a:spcPct val="118000"/>
              </a:lnSpc>
              <a:buSzPct val="100000"/>
              <a:buChar char="•"/>
            </a:pPr>
            <a:r>
              <a:rPr lang="en-US" sz="1500" dirty="0">
                <a:solidFill>
                  <a:srgbClr val="FFFFFF"/>
                </a:solidFill>
                <a:latin typeface="Exo" pitchFamily="34" charset="0"/>
                <a:ea typeface="Exo" pitchFamily="34" charset="-122"/>
                <a:cs typeface="Exo" pitchFamily="34" charset="-120"/>
              </a:rPr>
              <a:t>Efficient shortest-path calculation.</a:t>
            </a:r>
            <a:endParaRPr lang="en-US" sz="1500" dirty="0"/>
          </a:p>
          <a:p>
            <a:pPr algn="l" marL="304800" indent="-304800">
              <a:lnSpc>
                <a:spcPct val="118000"/>
              </a:lnSpc>
              <a:buSzPct val="100000"/>
              <a:buChar char="•"/>
            </a:pPr>
            <a:r>
              <a:rPr lang="en-US" sz="1500" dirty="0">
                <a:solidFill>
                  <a:srgbClr val="FFFFFF"/>
                </a:solidFill>
                <a:latin typeface="Exo" pitchFamily="34" charset="0"/>
                <a:ea typeface="Exo" pitchFamily="34" charset="-122"/>
                <a:cs typeface="Exo" pitchFamily="34" charset="-120"/>
              </a:rPr>
              <a:t>Reliable with non-negative edge weights.</a:t>
            </a:r>
            <a:endParaRPr lang="en-US" sz="1500" dirty="0"/>
          </a:p>
          <a:p>
            <a:pPr algn="l" marL="304800" indent="-304800">
              <a:lnSpc>
                <a:spcPct val="118000"/>
              </a:lnSpc>
              <a:buSzPct val="100000"/>
              <a:buChar char="•"/>
            </a:pPr>
            <a:r>
              <a:rPr lang="en-US" sz="1500" dirty="0">
                <a:solidFill>
                  <a:srgbClr val="FFFFFF"/>
                </a:solidFill>
                <a:latin typeface="Exo" pitchFamily="34" charset="0"/>
                <a:ea typeface="Exo" pitchFamily="34" charset="-122"/>
                <a:cs typeface="Exo" pitchFamily="34" charset="-120"/>
              </a:rPr>
              <a:t>Useful across routing and navigation.</a:t>
            </a:r>
            <a:endParaRPr lang="en-US" sz="1500" dirty="0"/>
          </a:p>
        </p:txBody>
      </p:sp>
      <p:sp>
        <p:nvSpPr>
          <p:cNvPr id="12" name="Shape 10"/>
          <p:cNvSpPr/>
          <p:nvPr/>
        </p:nvSpPr>
        <p:spPr>
          <a:xfrm>
            <a:off x="6629234" y="3201095"/>
            <a:ext cx="4902077" cy="3098105"/>
          </a:xfrm>
          <a:prstGeom prst="rect">
            <a:avLst/>
          </a:prstGeom>
          <a:solidFill>
            <a:srgbClr val="241B55"/>
          </a:solidFill>
          <a:ln/>
        </p:spPr>
      </p:sp>
      <p:sp>
        <p:nvSpPr>
          <p:cNvPr id="13" name="Text 11"/>
          <p:cNvSpPr/>
          <p:nvPr/>
        </p:nvSpPr>
        <p:spPr>
          <a:xfrm>
            <a:off x="6908627" y="3455095"/>
            <a:ext cx="4343291" cy="419100"/>
          </a:xfrm>
          <a:prstGeom prst="rect">
            <a:avLst/>
          </a:prstGeom>
          <a:noFill/>
          <a:ln/>
        </p:spPr>
        <p:txBody>
          <a:bodyPr wrap="none" lIns="0" tIns="0" rIns="0" bIns="0" rtlCol="0" anchor="t"/>
          <a:lstStyle/>
          <a:p>
            <a:pPr algn="l" indent="0" marL="0">
              <a:lnSpc>
                <a:spcPct val="110000"/>
              </a:lnSpc>
              <a:buNone/>
            </a:pPr>
            <a:r>
              <a:rPr lang="en-US" sz="2500" dirty="0">
                <a:solidFill>
                  <a:srgbClr val="FFFFFF"/>
                </a:solidFill>
                <a:latin typeface="Exo" pitchFamily="34" charset="0"/>
                <a:ea typeface="Exo" pitchFamily="34" charset="-122"/>
                <a:cs typeface="Exo" pitchFamily="34" charset="-120"/>
              </a:rPr>
              <a:t>Limitations</a:t>
            </a:r>
            <a:endParaRPr lang="en-US" sz="2500" dirty="0"/>
          </a:p>
        </p:txBody>
      </p:sp>
      <p:sp>
        <p:nvSpPr>
          <p:cNvPr id="14" name="Text 12"/>
          <p:cNvSpPr/>
          <p:nvPr/>
        </p:nvSpPr>
        <p:spPr>
          <a:xfrm>
            <a:off x="6908627" y="4017070"/>
            <a:ext cx="4343291" cy="1724422"/>
          </a:xfrm>
          <a:prstGeom prst="rect">
            <a:avLst/>
          </a:prstGeom>
          <a:noFill/>
          <a:ln/>
        </p:spPr>
        <p:txBody>
          <a:bodyPr wrap="square" lIns="0" tIns="0" rIns="0" bIns="0" rtlCol="0" anchor="t">
            <a:normAutofit/>
          </a:bodyPr>
          <a:lstStyle/>
          <a:p>
            <a:pPr algn="l" marL="304800" indent="-304800">
              <a:lnSpc>
                <a:spcPct val="118000"/>
              </a:lnSpc>
              <a:buSzPct val="100000"/>
              <a:buChar char="•"/>
            </a:pPr>
            <a:r>
              <a:rPr lang="en-US" sz="1500" dirty="0">
                <a:solidFill>
                  <a:srgbClr val="FFFFFF"/>
                </a:solidFill>
                <a:latin typeface="Exo" pitchFamily="34" charset="0"/>
                <a:ea typeface="Exo" pitchFamily="34" charset="-122"/>
                <a:cs typeface="Exo" pitchFamily="34" charset="-120"/>
              </a:rPr>
              <a:t>Standard Dijkstra’s Algorithm is not correct when negative edge weights are present.</a:t>
            </a:r>
            <a:endParaRPr lang="en-US" sz="1500" dirty="0"/>
          </a:p>
          <a:p>
            <a:pPr algn="l" marL="304800" indent="-304800">
              <a:lnSpc>
                <a:spcPct val="118000"/>
              </a:lnSpc>
              <a:buSzPct val="100000"/>
              <a:buChar char="•"/>
            </a:pPr>
            <a:r>
              <a:rPr lang="en-US" sz="1500" dirty="0">
                <a:solidFill>
                  <a:srgbClr val="FFFFFF"/>
                </a:solidFill>
                <a:latin typeface="Exo" pitchFamily="34" charset="0"/>
                <a:ea typeface="Exo" pitchFamily="34" charset="-122"/>
                <a:cs typeface="Exo" pitchFamily="34" charset="-120"/>
              </a:rPr>
              <a:t>Performance depends on graph representation and implementation.</a:t>
            </a:r>
            <a:endParaRPr lang="en-US" sz="1500" dirty="0"/>
          </a:p>
          <a:p>
            <a:pPr algn="l" marL="304800" indent="-304800">
              <a:lnSpc>
                <a:spcPct val="118000"/>
              </a:lnSpc>
              <a:buSzPct val="100000"/>
              <a:buChar char="•"/>
            </a:pPr>
            <a:r>
              <a:rPr lang="en-US" sz="1500" dirty="0">
                <a:solidFill>
                  <a:srgbClr val="FFFFFF"/>
                </a:solidFill>
                <a:latin typeface="Exo" pitchFamily="34" charset="0"/>
                <a:ea typeface="Exo" pitchFamily="34" charset="-122"/>
                <a:cs typeface="Exo" pitchFamily="34" charset="-120"/>
              </a:rPr>
              <a:t>When negative weights matter, consider Bellman–Ford.</a:t>
            </a:r>
            <a:endParaRPr lang="en-US" sz="1500" dirty="0"/>
          </a:p>
        </p:txBody>
      </p:sp>
      <p:sp>
        <p:nvSpPr>
          <p:cNvPr id="15" name="Text 13"/>
          <p:cNvSpPr/>
          <p:nvPr/>
        </p:nvSpPr>
        <p:spPr>
          <a:xfrm>
            <a:off x="11819634" y="6458545"/>
            <a:ext cx="372061"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9D9D9D"/>
                </a:solidFill>
                <a:latin typeface="Fira Mono" pitchFamily="34" charset="0"/>
                <a:ea typeface="Fira Mono" pitchFamily="34" charset="-122"/>
                <a:cs typeface="Fira Mono"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611822"/>
            <a:ext cx="6235544"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TAKEAWAY · SHORTEST-PATH TREE</a:t>
            </a:r>
            <a:endParaRPr lang="en-US" sz="1100" dirty="0"/>
          </a:p>
        </p:txBody>
      </p:sp>
      <p:sp>
        <p:nvSpPr>
          <p:cNvPr id="3" name="Text 1"/>
          <p:cNvSpPr/>
          <p:nvPr/>
        </p:nvSpPr>
        <p:spPr>
          <a:xfrm>
            <a:off x="609585" y="904042"/>
            <a:ext cx="5625959" cy="951111"/>
          </a:xfrm>
          <a:prstGeom prst="rect">
            <a:avLst/>
          </a:prstGeom>
          <a:noFill/>
          <a:ln/>
        </p:spPr>
        <p:txBody>
          <a:bodyPr wrap="square" lIns="0" tIns="0" rIns="0" bIns="0" rtlCol="0" anchor="t">
            <a:normAutofit/>
          </a:bodyPr>
          <a:lstStyle/>
          <a:p>
            <a:pPr algn="l" indent="0" marL="0">
              <a:lnSpc>
                <a:spcPct val="89000"/>
              </a:lnSpc>
              <a:buNone/>
            </a:pPr>
            <a:r>
              <a:rPr lang="en-US" sz="3500" spc="-42" kern="100" dirty="0">
                <a:solidFill>
                  <a:srgbClr val="ECECEC"/>
                </a:solidFill>
                <a:latin typeface="Exo SemiBold" pitchFamily="34" charset="0"/>
                <a:ea typeface="Exo SemiBold" pitchFamily="34" charset="-122"/>
                <a:cs typeface="Exo SemiBold" pitchFamily="34" charset="-120"/>
              </a:rPr>
              <a:t>Greedy choices build a shortest-path tree</a:t>
            </a:r>
            <a:endParaRPr lang="en-US" sz="3500" dirty="0"/>
          </a:p>
        </p:txBody>
      </p:sp>
      <p:sp>
        <p:nvSpPr>
          <p:cNvPr id="4" name="Shape 2"/>
          <p:cNvSpPr/>
          <p:nvPr/>
        </p:nvSpPr>
        <p:spPr>
          <a:xfrm>
            <a:off x="609585" y="2064544"/>
            <a:ext cx="1406490" cy="31651"/>
          </a:xfrm>
          <a:prstGeom prst="roundRect">
            <a:avLst>
              <a:gd name="adj" fmla="val 49998"/>
            </a:avLst>
          </a:prstGeom>
          <a:solidFill>
            <a:srgbClr val="9BE1FF"/>
          </a:solidFill>
          <a:ln/>
        </p:spPr>
      </p:sp>
      <p:sp>
        <p:nvSpPr>
          <p:cNvPr id="5" name="Text 3"/>
          <p:cNvSpPr/>
          <p:nvPr/>
        </p:nvSpPr>
        <p:spPr>
          <a:xfrm>
            <a:off x="609585" y="2320131"/>
            <a:ext cx="5625959" cy="81141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Start at distance 0, finalize the closest unvisited vertex, and relax outgoing edges. For non-negative weights, each finalized distance is safe.</a:t>
            </a:r>
            <a:endParaRPr lang="en-US" sz="1500" dirty="0"/>
          </a:p>
        </p:txBody>
      </p:sp>
      <p:sp>
        <p:nvSpPr>
          <p:cNvPr id="6" name="Text 4"/>
          <p:cNvSpPr/>
          <p:nvPr/>
        </p:nvSpPr>
        <p:spPr>
          <a:xfrm>
            <a:off x="609585" y="4991378"/>
            <a:ext cx="6235544" cy="198041"/>
          </a:xfrm>
          <a:prstGeom prst="rect">
            <a:avLst/>
          </a:prstGeom>
          <a:noFill/>
          <a:ln/>
        </p:spPr>
        <p:txBody>
          <a:bodyPr wrap="none" lIns="0" tIns="0" rIns="0" bIns="0" rtlCol="0" anchor="t"/>
          <a:lstStyle/>
          <a:p>
            <a:pPr algn="l" indent="0" marL="0">
              <a:lnSpc>
                <a:spcPct val="108000"/>
              </a:lnSpc>
              <a:buNone/>
            </a:pPr>
            <a:r>
              <a:rPr lang="en-US" sz="1200" spc="192" kern="100" dirty="0">
                <a:solidFill>
                  <a:srgbClr val="D5D5D5"/>
                </a:solidFill>
                <a:latin typeface="Michroma" pitchFamily="34" charset="0"/>
                <a:ea typeface="Michroma" pitchFamily="34" charset="-122"/>
                <a:cs typeface="Michroma" pitchFamily="34" charset="-120"/>
              </a:rPr>
              <a:t>ONE LOOP · MANY SYSTEMS</a:t>
            </a:r>
            <a:endParaRPr lang="en-US" sz="1200" dirty="0"/>
          </a:p>
        </p:txBody>
      </p:sp>
      <p:sp>
        <p:nvSpPr>
          <p:cNvPr id="7" name="Text 5"/>
          <p:cNvSpPr/>
          <p:nvPr/>
        </p:nvSpPr>
        <p:spPr>
          <a:xfrm>
            <a:off x="609585" y="5345311"/>
            <a:ext cx="5625959"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Navigation, networking, robotics, and pathfinding all use the same core reasoning.</a:t>
            </a:r>
            <a:endParaRPr lang="en-US" sz="1500" dirty="0"/>
          </a:p>
        </p:txBody>
      </p:sp>
      <p:sp>
        <p:nvSpPr>
          <p:cNvPr id="8" name="Text 6"/>
          <p:cNvSpPr/>
          <p:nvPr/>
        </p:nvSpPr>
        <p:spPr>
          <a:xfrm>
            <a:off x="609585" y="6065576"/>
            <a:ext cx="6235544" cy="184348"/>
          </a:xfrm>
          <a:prstGeom prst="rect">
            <a:avLst/>
          </a:prstGeom>
          <a:noFill/>
          <a:ln/>
        </p:spPr>
        <p:txBody>
          <a:bodyPr wrap="none" lIns="0" tIns="0" rIns="0" bIns="0" rtlCol="0" anchor="t"/>
          <a:lstStyle/>
          <a:p>
            <a:pPr algn="l" indent="0" marL="0">
              <a:lnSpc>
                <a:spcPct val="110000"/>
              </a:lnSpc>
              <a:buNone/>
            </a:pPr>
            <a:r>
              <a:rPr lang="en-US" sz="1100" spc="11" kern="100" dirty="0">
                <a:solidFill>
                  <a:srgbClr val="9D9D9D"/>
                </a:solidFill>
                <a:latin typeface="Exo" pitchFamily="34" charset="0"/>
                <a:ea typeface="Exo" pitchFamily="34" charset="-122"/>
                <a:cs typeface="Exo" pitchFamily="34" charset="-120"/>
              </a:rPr>
              <a:t>Generated using Gamma AI</a:t>
            </a:r>
            <a:endParaRPr lang="en-US" sz="1100" dirty="0"/>
          </a:p>
        </p:txBody>
      </p:sp>
      <p:sp>
        <p:nvSpPr>
          <p:cNvPr id="9" name="Shape 7"/>
          <p:cNvSpPr/>
          <p:nvPr/>
        </p:nvSpPr>
        <p:spPr>
          <a:xfrm>
            <a:off x="7302317" y="0"/>
            <a:ext cx="4889378" cy="6858000"/>
          </a:xfrm>
          <a:prstGeom prst="rect">
            <a:avLst/>
          </a:prstGeom>
          <a:solidFill>
            <a:srgbClr val="0E1F40"/>
          </a:solidFill>
          <a:ln/>
        </p:spPr>
      </p:sp>
      <p:sp>
        <p:nvSpPr>
          <p:cNvPr id="10" name="Text 8"/>
          <p:cNvSpPr/>
          <p:nvPr/>
        </p:nvSpPr>
        <p:spPr>
          <a:xfrm>
            <a:off x="11819634" y="6458545"/>
            <a:ext cx="372061"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9D9D9D"/>
                </a:solidFill>
                <a:latin typeface="Fira Mono" pitchFamily="34" charset="0"/>
                <a:ea typeface="Fira Mono" pitchFamily="34" charset="-122"/>
                <a:cs typeface="Fira Mono" pitchFamily="34" charset="-120"/>
              </a:rPr>
              <a:t>10</a:t>
            </a:r>
            <a:endParaRPr lang="en-US" sz="1050" dirty="0"/>
          </a:p>
        </p:txBody>
      </p:sp>
      <p:sp>
        <p:nvSpPr>
          <p:cNvPr id="11" name="Shape 9"/>
          <p:cNvSpPr/>
          <p:nvPr/>
        </p:nvSpPr>
        <p:spPr>
          <a:xfrm>
            <a:off x="9692040" y="1906984"/>
            <a:ext cx="1042465" cy="877888"/>
          </a:xfrm>
          <a:prstGeom prst="line">
            <a:avLst/>
          </a:prstGeom>
          <a:solidFill>
            <a:srgbClr val="9BE1FF"/>
          </a:solidFill>
          <a:ln w="38100">
            <a:solidFill>
              <a:srgbClr val="9BE1FF"/>
            </a:solidFill>
            <a:prstDash val="solid"/>
          </a:ln>
        </p:spPr>
      </p:sp>
      <p:sp>
        <p:nvSpPr>
          <p:cNvPr id="12" name="Shape 10"/>
          <p:cNvSpPr/>
          <p:nvPr/>
        </p:nvSpPr>
        <p:spPr>
          <a:xfrm>
            <a:off x="8649575" y="2784872"/>
            <a:ext cx="493799" cy="373063"/>
          </a:xfrm>
          <a:prstGeom prst="line">
            <a:avLst/>
          </a:prstGeom>
          <a:solidFill>
            <a:srgbClr val="9BE1FF"/>
          </a:solidFill>
          <a:ln w="38100">
            <a:solidFill>
              <a:srgbClr val="9BE1FF"/>
            </a:solidFill>
            <a:prstDash val="solid"/>
          </a:ln>
        </p:spPr>
      </p:sp>
      <p:sp>
        <p:nvSpPr>
          <p:cNvPr id="13" name="Shape 11"/>
          <p:cNvSpPr/>
          <p:nvPr/>
        </p:nvSpPr>
        <p:spPr>
          <a:xfrm>
            <a:off x="9318987" y="655935"/>
            <a:ext cx="746206" cy="746224"/>
          </a:xfrm>
          <a:prstGeom prst="ellipse">
            <a:avLst/>
          </a:prstGeom>
          <a:solidFill>
            <a:srgbClr val="9BE1FF"/>
          </a:solidFill>
          <a:ln/>
        </p:spPr>
      </p:sp>
      <p:sp>
        <p:nvSpPr>
          <p:cNvPr id="14" name="Shape 12"/>
          <p:cNvSpPr/>
          <p:nvPr/>
        </p:nvSpPr>
        <p:spPr>
          <a:xfrm>
            <a:off x="8287436" y="1533823"/>
            <a:ext cx="746206" cy="746224"/>
          </a:xfrm>
          <a:prstGeom prst="ellipse">
            <a:avLst/>
          </a:prstGeom>
          <a:solidFill>
            <a:srgbClr val="07303A"/>
          </a:solidFill>
          <a:ln/>
        </p:spPr>
      </p:sp>
      <p:sp>
        <p:nvSpPr>
          <p:cNvPr id="15" name="Shape 13"/>
          <p:cNvSpPr/>
          <p:nvPr/>
        </p:nvSpPr>
        <p:spPr>
          <a:xfrm>
            <a:off x="10350440" y="1533823"/>
            <a:ext cx="746206" cy="746224"/>
          </a:xfrm>
          <a:prstGeom prst="ellipse">
            <a:avLst/>
          </a:prstGeom>
          <a:solidFill>
            <a:srgbClr val="241B55"/>
          </a:solidFill>
          <a:ln/>
        </p:spPr>
      </p:sp>
      <p:sp>
        <p:nvSpPr>
          <p:cNvPr id="16" name="Shape 14"/>
          <p:cNvSpPr/>
          <p:nvPr/>
        </p:nvSpPr>
        <p:spPr>
          <a:xfrm>
            <a:off x="8155776" y="2916535"/>
            <a:ext cx="746206" cy="746224"/>
          </a:xfrm>
          <a:prstGeom prst="ellipse">
            <a:avLst/>
          </a:prstGeom>
          <a:solidFill>
            <a:srgbClr val="07303A"/>
          </a:solidFill>
          <a:ln/>
        </p:spPr>
      </p:sp>
      <p:sp>
        <p:nvSpPr>
          <p:cNvPr id="17" name="Shape 15"/>
          <p:cNvSpPr/>
          <p:nvPr/>
        </p:nvSpPr>
        <p:spPr>
          <a:xfrm>
            <a:off x="9011714" y="2916535"/>
            <a:ext cx="746206" cy="746224"/>
          </a:xfrm>
          <a:prstGeom prst="ellipse">
            <a:avLst/>
          </a:prstGeom>
          <a:solidFill>
            <a:srgbClr val="241B55"/>
          </a:solidFill>
          <a:ln/>
        </p:spPr>
      </p:sp>
      <p:sp>
        <p:nvSpPr>
          <p:cNvPr id="18" name="Text 16"/>
          <p:cNvSpPr/>
          <p:nvPr/>
        </p:nvSpPr>
        <p:spPr>
          <a:xfrm>
            <a:off x="9063505" y="886420"/>
            <a:ext cx="1257169" cy="280491"/>
          </a:xfrm>
          <a:prstGeom prst="rect">
            <a:avLst/>
          </a:prstGeom>
          <a:noFill/>
          <a:ln/>
        </p:spPr>
        <p:txBody>
          <a:bodyPr wrap="none" lIns="0" tIns="0" rIns="0" bIns="0" rtlCol="0" anchor="t"/>
          <a:lstStyle/>
          <a:p>
            <a:pPr algn="ctr" indent="0" marL="0">
              <a:lnSpc>
                <a:spcPct val="118000"/>
              </a:lnSpc>
              <a:buNone/>
            </a:pPr>
            <a:r>
              <a:rPr lang="en-US" sz="1550" dirty="0">
                <a:solidFill>
                  <a:srgbClr val="D5D5D5"/>
                </a:solidFill>
                <a:latin typeface="Exo" pitchFamily="34" charset="0"/>
                <a:ea typeface="Exo" pitchFamily="34" charset="-122"/>
                <a:cs typeface="Exo" pitchFamily="34" charset="-120"/>
              </a:rPr>
              <a:t>A</a:t>
            </a:r>
            <a:endParaRPr lang="en-US" sz="1550" dirty="0"/>
          </a:p>
        </p:txBody>
      </p:sp>
      <p:sp>
        <p:nvSpPr>
          <p:cNvPr id="19" name="Text 17"/>
          <p:cNvSpPr/>
          <p:nvPr/>
        </p:nvSpPr>
        <p:spPr>
          <a:xfrm>
            <a:off x="8031954" y="1764308"/>
            <a:ext cx="1257169" cy="280491"/>
          </a:xfrm>
          <a:prstGeom prst="rect">
            <a:avLst/>
          </a:prstGeom>
          <a:noFill/>
          <a:ln/>
        </p:spPr>
        <p:txBody>
          <a:bodyPr wrap="none" lIns="0" tIns="0" rIns="0" bIns="0" rtlCol="0" anchor="t"/>
          <a:lstStyle/>
          <a:p>
            <a:pPr algn="ctr" indent="0" marL="0">
              <a:lnSpc>
                <a:spcPct val="118000"/>
              </a:lnSpc>
              <a:buNone/>
            </a:pPr>
            <a:r>
              <a:rPr lang="en-US" sz="1550" dirty="0">
                <a:solidFill>
                  <a:srgbClr val="D5D5D5"/>
                </a:solidFill>
                <a:latin typeface="Exo" pitchFamily="34" charset="0"/>
                <a:ea typeface="Exo" pitchFamily="34" charset="-122"/>
                <a:cs typeface="Exo" pitchFamily="34" charset="-120"/>
              </a:rPr>
              <a:t>C</a:t>
            </a:r>
            <a:endParaRPr lang="en-US" sz="1550" dirty="0"/>
          </a:p>
        </p:txBody>
      </p:sp>
      <p:sp>
        <p:nvSpPr>
          <p:cNvPr id="20" name="Text 18"/>
          <p:cNvSpPr/>
          <p:nvPr/>
        </p:nvSpPr>
        <p:spPr>
          <a:xfrm>
            <a:off x="10094958" y="1764308"/>
            <a:ext cx="1257169" cy="280491"/>
          </a:xfrm>
          <a:prstGeom prst="rect">
            <a:avLst/>
          </a:prstGeom>
          <a:noFill/>
          <a:ln/>
        </p:spPr>
        <p:txBody>
          <a:bodyPr wrap="none" lIns="0" tIns="0" rIns="0" bIns="0" rtlCol="0" anchor="t"/>
          <a:lstStyle/>
          <a:p>
            <a:pPr algn="ctr" indent="0" marL="0">
              <a:lnSpc>
                <a:spcPct val="118000"/>
              </a:lnSpc>
              <a:buNone/>
            </a:pPr>
            <a:r>
              <a:rPr lang="en-US" sz="1550" dirty="0">
                <a:solidFill>
                  <a:srgbClr val="D5D5D5"/>
                </a:solidFill>
                <a:latin typeface="Exo" pitchFamily="34" charset="0"/>
                <a:ea typeface="Exo" pitchFamily="34" charset="-122"/>
                <a:cs typeface="Exo" pitchFamily="34" charset="-120"/>
              </a:rPr>
              <a:t>B</a:t>
            </a:r>
            <a:endParaRPr lang="en-US" sz="1550" dirty="0"/>
          </a:p>
        </p:txBody>
      </p:sp>
      <p:sp>
        <p:nvSpPr>
          <p:cNvPr id="21" name="Text 19"/>
          <p:cNvSpPr/>
          <p:nvPr/>
        </p:nvSpPr>
        <p:spPr>
          <a:xfrm>
            <a:off x="7900294" y="3147020"/>
            <a:ext cx="1257169" cy="280491"/>
          </a:xfrm>
          <a:prstGeom prst="rect">
            <a:avLst/>
          </a:prstGeom>
          <a:noFill/>
          <a:ln/>
        </p:spPr>
        <p:txBody>
          <a:bodyPr wrap="none" lIns="0" tIns="0" rIns="0" bIns="0" rtlCol="0" anchor="t"/>
          <a:lstStyle/>
          <a:p>
            <a:pPr algn="ctr" indent="0" marL="0">
              <a:lnSpc>
                <a:spcPct val="118000"/>
              </a:lnSpc>
              <a:buNone/>
            </a:pPr>
            <a:r>
              <a:rPr lang="en-US" sz="1550" dirty="0">
                <a:solidFill>
                  <a:srgbClr val="D5D5D5"/>
                </a:solidFill>
                <a:latin typeface="Exo" pitchFamily="34" charset="0"/>
                <a:ea typeface="Exo" pitchFamily="34" charset="-122"/>
                <a:cs typeface="Exo" pitchFamily="34" charset="-120"/>
              </a:rPr>
              <a:t>D</a:t>
            </a:r>
            <a:endParaRPr lang="en-US" sz="1550" dirty="0"/>
          </a:p>
        </p:txBody>
      </p:sp>
      <p:sp>
        <p:nvSpPr>
          <p:cNvPr id="22" name="Text 20"/>
          <p:cNvSpPr/>
          <p:nvPr/>
        </p:nvSpPr>
        <p:spPr>
          <a:xfrm>
            <a:off x="8756233" y="3147020"/>
            <a:ext cx="1257169" cy="280491"/>
          </a:xfrm>
          <a:prstGeom prst="rect">
            <a:avLst/>
          </a:prstGeom>
          <a:noFill/>
          <a:ln/>
        </p:spPr>
        <p:txBody>
          <a:bodyPr wrap="none" lIns="0" tIns="0" rIns="0" bIns="0" rtlCol="0" anchor="t"/>
          <a:lstStyle/>
          <a:p>
            <a:pPr algn="ctr" indent="0" marL="0">
              <a:lnSpc>
                <a:spcPct val="118000"/>
              </a:lnSpc>
              <a:buNone/>
            </a:pPr>
            <a:r>
              <a:rPr lang="en-US" sz="1550" dirty="0">
                <a:solidFill>
                  <a:srgbClr val="D5D5D5"/>
                </a:solidFill>
                <a:latin typeface="Exo" pitchFamily="34" charset="0"/>
                <a:ea typeface="Exo" pitchFamily="34" charset="-122"/>
                <a:cs typeface="Exo" pitchFamily="34" charset="-120"/>
              </a:rPr>
              <a:t>D</a:t>
            </a:r>
            <a:endParaRPr lang="en-US" sz="1550" dirty="0"/>
          </a:p>
        </p:txBody>
      </p:sp>
      <p:sp>
        <p:nvSpPr>
          <p:cNvPr id="23" name="Text 21"/>
          <p:cNvSpPr/>
          <p:nvPr/>
        </p:nvSpPr>
        <p:spPr>
          <a:xfrm>
            <a:off x="9041479" y="1404382"/>
            <a:ext cx="1344877" cy="181570"/>
          </a:xfrm>
          <a:prstGeom prst="rect">
            <a:avLst/>
          </a:prstGeom>
          <a:noFill/>
          <a:ln/>
        </p:spPr>
        <p:txBody>
          <a:bodyPr wrap="none" lIns="0" tIns="0" rIns="0" bIns="0" rtlCol="0" anchor="t"/>
          <a:lstStyle/>
          <a:p>
            <a:pPr algn="ctr" indent="0" marL="0">
              <a:lnSpc>
                <a:spcPct val="108000"/>
              </a:lnSpc>
              <a:buNone/>
            </a:pPr>
            <a:r>
              <a:rPr lang="en-US" sz="1100" spc="93" kern="100" dirty="0">
                <a:solidFill>
                  <a:srgbClr val="D5D5D5"/>
                </a:solidFill>
                <a:latin typeface="Fira Mono Medium" pitchFamily="34" charset="0"/>
                <a:ea typeface="Fira Mono Medium" pitchFamily="34" charset="-122"/>
                <a:cs typeface="Fira Mono Medium" pitchFamily="34" charset="-120"/>
              </a:rPr>
              <a:t>SOURCE</a:t>
            </a:r>
            <a:endParaRPr lang="en-US" sz="1100" dirty="0"/>
          </a:p>
        </p:txBody>
      </p:sp>
      <p:sp>
        <p:nvSpPr>
          <p:cNvPr id="24" name="Text 22"/>
          <p:cNvSpPr/>
          <p:nvPr/>
        </p:nvSpPr>
        <p:spPr>
          <a:xfrm>
            <a:off x="7878268" y="2457188"/>
            <a:ext cx="1520489" cy="184348"/>
          </a:xfrm>
          <a:prstGeom prst="rect">
            <a:avLst/>
          </a:prstGeom>
          <a:noFill/>
          <a:ln/>
        </p:spPr>
        <p:txBody>
          <a:bodyPr wrap="none" lIns="0" tIns="0" rIns="0" bIns="0" rtlCol="0" anchor="t"/>
          <a:lstStyle/>
          <a:p>
            <a:pPr algn="ctr" indent="0" marL="0">
              <a:lnSpc>
                <a:spcPct val="110000"/>
              </a:lnSpc>
              <a:buNone/>
            </a:pPr>
            <a:r>
              <a:rPr lang="en-US" sz="1100" spc="11" kern="100" dirty="0">
                <a:solidFill>
                  <a:srgbClr val="D5D5D5"/>
                </a:solidFill>
                <a:latin typeface="Exo" pitchFamily="34" charset="0"/>
                <a:ea typeface="Exo" pitchFamily="34" charset="-122"/>
                <a:cs typeface="Exo" pitchFamily="34" charset="-120"/>
              </a:rPr>
              <a:t>A → C</a:t>
            </a:r>
            <a:endParaRPr lang="en-US" sz="1100" dirty="0"/>
          </a:p>
        </p:txBody>
      </p:sp>
      <p:sp>
        <p:nvSpPr>
          <p:cNvPr id="25" name="Text 23"/>
          <p:cNvSpPr/>
          <p:nvPr/>
        </p:nvSpPr>
        <p:spPr>
          <a:xfrm>
            <a:off x="9656025" y="2457188"/>
            <a:ext cx="1520489" cy="184348"/>
          </a:xfrm>
          <a:prstGeom prst="rect">
            <a:avLst/>
          </a:prstGeom>
          <a:noFill/>
          <a:ln/>
        </p:spPr>
        <p:txBody>
          <a:bodyPr wrap="none" lIns="0" tIns="0" rIns="0" bIns="0" rtlCol="0" anchor="t"/>
          <a:lstStyle/>
          <a:p>
            <a:pPr algn="ctr" indent="0" marL="0">
              <a:lnSpc>
                <a:spcPct val="110000"/>
              </a:lnSpc>
              <a:buNone/>
            </a:pPr>
            <a:r>
              <a:rPr lang="en-US" sz="1100" spc="11" kern="100" dirty="0">
                <a:solidFill>
                  <a:srgbClr val="D5D5D5"/>
                </a:solidFill>
                <a:latin typeface="Exo" pitchFamily="34" charset="0"/>
                <a:ea typeface="Exo" pitchFamily="34" charset="-122"/>
                <a:cs typeface="Exo" pitchFamily="34" charset="-120"/>
              </a:rPr>
              <a:t>C → B</a:t>
            </a:r>
            <a:endParaRPr lang="en-US" sz="1100" dirty="0"/>
          </a:p>
        </p:txBody>
      </p:sp>
      <p:sp>
        <p:nvSpPr>
          <p:cNvPr id="26" name="Text 24"/>
          <p:cNvSpPr/>
          <p:nvPr/>
        </p:nvSpPr>
        <p:spPr>
          <a:xfrm>
            <a:off x="8339227" y="3335076"/>
            <a:ext cx="2376428" cy="184348"/>
          </a:xfrm>
          <a:prstGeom prst="rect">
            <a:avLst/>
          </a:prstGeom>
          <a:noFill/>
          <a:ln/>
        </p:spPr>
        <p:txBody>
          <a:bodyPr wrap="none" lIns="0" tIns="0" rIns="0" bIns="0" rtlCol="0" anchor="t"/>
          <a:lstStyle/>
          <a:p>
            <a:pPr algn="ctr" indent="0" marL="0">
              <a:lnSpc>
                <a:spcPct val="110000"/>
              </a:lnSpc>
              <a:buNone/>
            </a:pPr>
            <a:r>
              <a:rPr lang="en-US" sz="1100" spc="11" kern="100" dirty="0">
                <a:solidFill>
                  <a:srgbClr val="D5D5D5"/>
                </a:solidFill>
                <a:latin typeface="Exo" pitchFamily="34" charset="0"/>
                <a:ea typeface="Exo" pitchFamily="34" charset="-122"/>
                <a:cs typeface="Exo" pitchFamily="34" charset="-120"/>
              </a:rPr>
              <a:t>B → D · cost 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2026-10-20T07:30:09Z</dcterms:created>
  <dcterms:modified xsi:type="dcterms:W3CDTF">2026-10-20T07:30:09Z</dcterms:modified>
</cp:coreProperties>
</file>